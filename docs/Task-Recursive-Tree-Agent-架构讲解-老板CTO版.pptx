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本页一句话：这不是一个更会聊天的机器人，而是一套把 Agent 决策变成可控执行的运行时。
面向老板：可以把它理解成给 Agent 加了一层“项目经理 + 现场总控”：模型负责理解目标，系统负责按规则推进、留证和恢复。
面向 CTO：LLM 最终只提交受约束的 TaskProgram；TaskTreeKernel 解释生命周期并写入唯一的 TaskTreeStore；Harness 承担世界、工具和物理后端。
讲解重点：
- 演示重点不是模型回答得多漂亮，而是任务进入真实世界后仍然可观察、可验证、可恢复。
- 整套架构围绕任务树、世界模型和规划工件三类对象展开。
可能追问与回答：
- 问：是不是把 LLM 排除在系统之外？
  答：不是。LLM 负责自然语言理解、澄清和高层意图；它不直接修改运行时树，也不直接拥有物理后端。
过渡：接下来先用四句话说明这套架构到底解决了什么。
原始备注：这页只讲定位：我们不是再做一个直接调用工具的 LLM，而是在做一个可治理的 Agent 执行控制平面。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本页一句话：四个关键词概括全部设计：分离、控制、证据、修复。
面向老板：这四个词对应四种经营结果：降低误动作风险、看得懂过程、出了问题能恢复，而不是只能人工重来。
面向 CTO：分离对应意图与副作用的边界；控制对应 Kernel 和 Store；证据对应快照、事件、工件和事务；修复对应 Diagnostic 到 repair subtree 的闭环。
讲解重点：
- 先记住“模型可能做什么”和“系统现在允许做什么”是两件事。
- 后面的架构图和案例都在验证这四个判断，而不是增加模块数量。
可能追问与回答：
- 问：为什么不直接把这些逻辑放进提示词？
  答：提示词不能成为唯一的权限、状态和事务边界；真正的副作用必须由代码契约和运行时闸门约束。
过渡：为了让后面的术语不抽象，先把系统里最重要的三个对象讲清楚。
原始备注：先让听众记住四个词：分离、控制、证据、修复。后面所有技术细节都是围绕这四个词展开。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本页一句话：任务树回答“接下来做什么”，世界模型回答“现场现在是什么”，规划工件回答“基于这个现场怎么做”。
面向老板：可以类比成三样东西：任务树是待办清单和过程记录，世界模型是现场账本，规划工件是带版本的施工图。
面向 CTO：三者不能混成一个大上下文：Store 管树状态，WorldModel 提供不可变快照，Artifact 记录生产者、依赖版本、快照引用和消费契约。
讲解重点：
- 树决定顺序，但不凭空猜现实；世界提供证据，但不替任务决定顺序。
- 工件是两者之间的连接层，世界变了就发布新工件，而不是偷偷改旧计划。
- LLM 输出的是意图，不是这三个对象的运行时权威状态。
可能追问与回答：
- 问：为什么不能只保留一份 JSON？
  答：一份混合 JSON 会把意图、运行态、现实证据和计划版本混在一起，难以校验所有权，也无法精确判断哪个计划过期。
过渡：有了这三个对象，再看为什么“直接工具调用”在真实场景里会失去控制。
原始备注：先把任务树、世界模型和规划工件分开讲清楚：任务树决定顺序，世界模型提供事实，工件连接计划与动作。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本页一句话：直接让 LLM 调机器人 API，短期快，长期会把状态、权限和恢复逻辑变成黑盒。
面向老板：低风险的一次性自动化可以这样做；但只要动作会改变现场、任务会连续执行，就必须知道每一步为什么做、做完后现场是否真的变了。
面向 CTO：黑盒方案缺少统一的执行栈、快照边界、工件新鲜度、物理事务和恢复入口；失败时常见的“再试一次”还可能重复副作用。
讲解重点：
- 这里不是否定传统 Agent，而是明确它的适用边界。
- Task Recursive Tree 把黑盒调用拆成意图、树、请求、观测和诊断几个可检查阶段。
可能追问与回答：
- 问：增加控制层会不会让系统更慢？
  答：会增加少量编排和验证开销，但换来可审计、可重放和局部恢复；真实物理系统通常更怕错误动作而不是多几毫秒。
过渡：因此，架构的关键不是堆模块，而是先确定哪些边界必须由谁拥有。
原始备注：这页不要贬低传统 Agent，重点是说明它的适用边界：一旦有真实副作用和连续状态，就需要显式控制平面。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本页一句话：六条设计原则把隐式行为变成显式、可校验的状态。
面向老板：原则最终服务于三个结果：出了问题能定位，恢复时不乱动，换设备或算法时不用推倒重来。
面向 CTO：单一所有权解决写冲突，类型化上下文解决权限扩散，任务与世界分层解决连续会话，工件不可变解决版本追踪，观测和递归修复解决闭环。
讲解重点：
- 这些不是代码风格，而是运行时不变量。
- 原则之间是链条：没有所有权就没有控制，没有证据就无法判断恢复是否成功。
可能追问与回答：
- 问：严格边界会不会降低开发效率？
  答：前期需要写清协议，但后续新增任务、算法或机器人只需实现局部契约，避免跨层联动修改。
过渡：下面把这些原则放回一张总图，先建立全局方向感。
原始备注：重点讲原则之间的关系：所有权保证可控，边界保证隔离，工件保证可追溯，观测保证真实，修复保证闭环。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本页一句话：系统沿着“入口 → 编译 → 任务树内核 → 物理世界”主链运行，证据和修复沿反馈回路返回。
面向老板：从左到右就是一条指令如何落地：人提出目标，系统翻译成任务，机器人执行，现场反馈结果。
面向 CTO：入口层不直接写树；编译层生成受约束定义；Kernel 是唯一生命周期解释器和 Store 唯一写入者；物理动作只能从 HarnessRuntime 出口进入后端。
讲解重点：
- 实线看主执行链，虚线看世界证据和修复回路，粉色代表 repair。
- A*、IK、RRT 在图中是能力，不是任务节点，避免算法细节污染任务语义。
可能追问与回答：
- 问：LLM 在图中的边界在哪里？
  答：它位于入口和规划适配层，只提交规范化的任务意图；运行时节点、事件和物理请求由内核及 Harness 管理。
过渡：总图看清后，最容易被问到的问题是：连续下达多条指令时，状态到底怎么隔离？
原始备注：这页是全 deck 的地图。强调三个箭头：主链、证据反馈、修复回路。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本页一句话：每条任务拥有独立的控制平面，但所有任务继续面对同一个真实现场。
面向老板：像不同的项目各有自己的项目档案，但都在同一个工厂里作业；项目档案不能混，工厂现场也不能凭空重置。
面向 CTO：ContinuousTaskSession 串行接收一次一个 typed submission；每次新建 Store、Kernel、Inspector 和执行栈，同时复用 WorldModel、Runtime、事务账本和 Backend。
讲解重点：
- 隔离的是树、节点运行态、事件和根目标；共享的是观察到的世界与物理基础设施。
- 当前参考实现是串行会话，不把它描述成已经完成的并行调度系统。
可能追问与回答：
- 问：多个任务能不能并行？
  答：当前协调器按任务串行执行；如果生产需要并行，应在上层增加调度和资源仲裁，不能把多个根目标硬塞进一棵树。
过渡：树和世界的边界确定后，再看谁负责推动一棵树从 pending 走到 succeeded。
原始备注：这是最值得向 CTO 强调的隔离模型，也是连续机器人操作区别于一次性脚本的关键。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本页一句话：Kernel 像任务树的操作系统内核：负责调度、状态、验证和恢复，不替规划器或控制器做专业算法。
面向老板：它不是“更大的模型”，而是一套稳定的执行规则：什么时候能做、做完怎么算成功、失败后下一步是什么。
面向 CTO：生命周期包含进入、目标检查、前置谓词、展开或执行、子节点、后置验证、修复或对账和终态；执行栈与事件日志让推进过程可回放。
讲解重点：
- Goal already satisfied 可以在入口短路，但结构节点必须先展开或执行，再在后置阶段验证。
- GraphDelta 在挂载前要校验作用域、边类型、无环和可达性。
可能追问与回答：
- 问：Kernel 会不会变成新的万能模块？
  答：不会。它只解释通用生命周期和策略；领域规划、物理请求和修复提案仍由角色化适配器提供。
过渡：内核有了统一生命周期，下一步要看每类扩展到底能看到什么、不能看到什么。
原始备注：用一句话解释 Kernel：它是任务树的操作系统内核，管理调度与状态，不取代规划器和控制器。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本页一句话：三类节点、三种权限，把“能决定什么”和“能触碰什么”写进协议。
面向老板：分解器负责拆任务，系统操作负责算方案，物理技能负责把方案翻译成动作请求；没有一个模块可以包办全部事情。
面向 CTO：Decomposer 只返回 GraphDelta；System Operation 可读 WorldSnapshot 和发布工件但不能调用 Backend；Physical Skill 只能消费工件构造 ActionRequest。
讲解重点：
- 权限通过 role context 强制，而不是靠开发者自觉。
- 算法迭代不应成为树节点，否则回放会充满无业务意义的内部步骤。
可能追问与回答：
- 问：为什么物理技能不能直接调用机器人？
  答：这样才能保证所有副作用都经过 Runtime 的新鲜度、guards、租约、checkpoint、事务和观测闸门。
过渡：下面用一个最简单的放置任务，逐层展开这套控制平面。
原始备注：这页面向 CTO：让大家看到扩展点不是靠约定，而是靠上下文和协议强制隔离。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本页一句话：正常放置任务先创建一个根节点，再由 Kernel 按需展开成 16 个可追踪节点。
面向老板：用户只说“把红色杯子放进投放区”，系统内部会把它变成解析、规划、抓取、持物移动、释放和最终确认。
面向 CTO：编译期只落根节点 Place；复合节点执行时通过 GraphDelta 增加 child 节点，最终形成 16 个节点、15 条 child 边、0 条 repair 边。
讲解重点：
- 树记录的是业务动作和验证点，不记录 A* 或 IK 的每次迭代。
- 每一个物理动作旁边都有相应的前置、持有或结果验证节点。
可能追问与回答：
- 问：为什么不一开始生成完整树？
  答：按需展开可以依据实际世界和已绑定对象生成下一层，减少无效节点，并让修复子树在失败时动态挂载。
过渡：树形结构只是骨架，下一页按时间顺序说明这 16 个节点怎样推动真实动作。
原始备注：这是最重要的树形示例。强调：根节点先存在，子节点在执行时由 GraphDelta 动态加入。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本页一句话：一次成功放置包含 5 次物理事务和多次系统验证，成功不等于一次 API 返回成功。
面向老板：系统每走一步都要确认现场是否真的跟上了计划，最后看到的是杯子到位，而不只是“命令已发送”。
面向 CTO：T1 到 T5 分别覆盖抓取位移动、抓取、运输姿态、持物导航和释放；每条命令后都产生 Observation，并由 WorldModel 和 Verifier 判断后续状态。
讲解重点：
- world:0 到 world:7 表示证据驱动的世界版本推进。
- 物理节点是副作用边界；系统节点负责规划、验证和条件判断。
可能追问与回答：
- 问：为什么要提前规划持物运输？
  答：提前检查可以在空夹爪阶段发现路线不可行，避免已经拿住物体后才暴露无法转移的问题。
过渡：计划要能被验证和重用，就不能只是某个函数里的临时变量，必须成为有版本的工件。
原始备注：强调物理事务数量和世界版本变化。系统不是只看工具返回成功，而是依赖动作后的观测与验证。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本页一句话：规划工件是带来源、依赖和消费契约的不可变施工图。
面向老板：现场一变，系统不会悄悄改旧计划，而是保留旧证据、生成新版本，再让后续动作使用合法的新计划。
面向 CTO：BindingArtifact、PickPlan、TransferPlan 和 NavigationPlan 都带 source snapshot、依赖版本、模型指纹和 payload 约束；新鲜度通过依赖比较计算。
讲解重点：
- 旧工件保留是审计能力，新工件发布是恢复能力，别名切换是执行能力。
- 重算 PickPlan 时必须按依赖关系刷新 TransferPlan，不能只更新一半。
可能追问与回答：
- 问：为什么不直接把工件标成 invalidated？
  答：参考核心用依赖版本计算 freshness，避免可变标志和真实状态脱节；外部桥接层如有兼容标记，也只能作为适配信息。
过渡：工件准备好之后，最关键的 CTO 问题是：它究竟怎样安全地穿过物理边界？
原始备注：这是 CTO 关心的可追溯性：工件把规划变成有版本、有依赖、有消费契约的数据产品。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本页一句话：一个物理动作必须经过快照、权限、资源、执行、观测和对账六个阶段。
面向老板：把它看成物理动作的审批链：计划合法、现场满足条件、设备被独占、动作完成后还要拿证据确认。
面向 CTO：PhysicalSkill 只构造 ActionRequest；HarnessRuntime 负责 freshness、snapshot predicates、leases、checkpoint、backend execute、observation ingest 和 commit/reconciliation。
讲解重点：
- 真实后端通常不能回滚，系统必须承认这一点，靠观测对账恢复事实，而不是假装动作撤销了。
- 动作后验证是闭环的终点，也是下一次规划的起点。
可能追问与回答：
- 问：checkpoint 在真实机器人上有什么用？
  答：模拟器可以回滚；真实设备的 checkpoint 更多是事务边界和对账基线，不能替代物理事实。
过渡：有了这条物理闭环，再看路线被挡时为什么不能简单地“多试几次”。
原始备注：用一个物理动作说明 Runtime 的作用：先检查，再锁资源和执行，动作后观测，最后提交或对账。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本页一句话：路线失败后，系统先证明阻挡原因和修复条件，再决定是否挂载修复树。
面向老板：不是看到失败就乱绕路或乱搬东西，而是先回答：真的是谁挡住了？它能不能移动？移到哪里安全？
面向 CTO：ROUTE_BLOCKED 进入 Diagnostic；反事实 A* 识别具体 movable witness，检查 parking region 和可达性，RepairResolver 才能返回 RepairProposal。
讲解重点：
- A* 只证明路线，不隐藏物理副作用。
- 如果存在安全绕行路线，应由规划能力解决；只有满足修复证据链才进入 blocker relocation。
可能追问与回答：
- 问：为什么不直接让规划器绕开箱子？
  答：可以绕行就应当重新规划；本案例的路线证据表明候选障碍是可移动且移走后路线恢复，因此用显式修复更合适。
过渡：一旦修复被批准，它不是旁路函数，而是挂到失败节点下面的真实子树。
原始备注：讲清楚“为什么不是任意重试”：修复必须有证据、有条件、有责任归属。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本页一句话：修复树与主任务使用同一套内核，因此修复也能展开、验证、失败和再次修复。
面向老板：修复不是人工插入的一段魔法脚本，而是系统自己能解释的一项工作：先搬箱子，再刷新计划，最后回到原任务。
面向 CTO：repair delta 必须恰好从失败节点挂一条 repair 边，入口和节点不能越界，完整图必须无环且可达；参考案例最终 34 个节点、1 条 repair 边。
讲解重点：
- Place(movable-crate, parking-zone) 会递归展开成和普通 Place 相同的结构。
- 递归深度和 gripper 占用等条件限制修复不能无限套娃或产生不安全动作。
可能追问与回答：
- 问：如果修复任务本身也遇到阻塞怎么办？
  答：它可以沿同一协议继续提出修复，但受递归深度、资源占用和安全条件限制；无法收敛就明确进入 blocked，而不是无限重试。
过渡：树形结构说明了“挂在哪里”，下一页按真实时间线走完一次恢复。
原始备注：这个案例要传达：修复与主任务使用同一套内核和节点契约，因此能够递归、审计和再次修复。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本页一句话：恢复过程是：诊断 → 挂载 → 搬障碍物 → 观测 → 重规划 → 重试原节点 → 验证。
面向老板：修复改变的是阻碍目标的现场条件，不是偷偷换掉用户原来的目标；最后仍然是把杯子放到投放区。
面向 CTO：修复完成后世界从 world:0 推进到 world:7，依赖旧现场的计划重新检查新鲜度并发布新工件，最终原 PlanTransfer 在新条件下成功，根任务到 world:14。
讲解重点：
- 事件日志能把每一步和具体节点、工件、世界版本对应起来。
- 恢复成功的判定来自新观测和后置谓词，而不是 repair resolver 自己说成功。
可能追问与回答：
- 问：为什么 PlanTransfer 看起来执行了两次？
  答：第一次是原始计划失败，第二次是在修复并刷新依赖工件后重试；两次 attempt 都属于同一个原目标节点。
过渡：单个任务恢复后，再看连续会话如何把两个独立目标接在同一个现实世界上。
原始备注：讲这页时按时间顺序走一遍，最后强调原任务目标没有被替换，只是修复了阻碍它的现实条件。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本页一句话：连续会话做到“每条指令一棵新树，现场状态不重置”。
面向老板：用户可以先让机器人搬走箱子，再让它把杯子放到目标区，第二条指令不需要重新初始化整个场景。
面向 CTO：task-0001 的根是 program/task-0001，task-0002 的根是 program/task-0002；世界版本从 0 到 7 再到 14，事务和后端连续复用。
讲解重点：
- 新树解决审计和取消边界，共享世界解决真实操作的连续性。
- 当前证据是串行连续任务，不应误读成多任务并行执行。
可能追问与回答：
- 问：第二条任务如何知道第一条任务搬走了箱子？
  答：它读取共享 WorldModel 的新快照和实体版本，而不是读取第一棵树的节点内部状态。
过渡：连续性解决了体验问题，最后还要回答物理动作如何被系统性地约束。
原始备注：这页适合向老板解释产品体验，向 CTO 解释状态隔离：两个目标不会混树，但第二个任务能看到第一个任务改变的现实。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本页一句话：安全不是提示词里的提醒，而是由工件、快照、租约、事务和观测共同构成的物理边界。
面向老板：就像生产线上的多道闸门：任何一道不通过，动作都不能直接触碰机器人。
面向 CTO：普通物理动作和 system_only 动作分流；Runtime 是唯一后端入口；路由、footprint、payload、执行时重验证和 reconciliation 使用统一策略。
讲解重点：
- 计划新鲜度和动作前 guards 防止拿旧地图执行新动作。
- 动作后采样和提交/对账防止“命令发出即当成事实”。
可能追问与回答：
- 问：模型被提示注入后能不能直接发危险动作？
  答：模型没有 Runtime 或 Backend 能力，且物理技能只能生成受限请求；最终仍需通过 Harness 的注册表和安全策略。
过渡：这些边界最终要转化为经营价值和工程效率，下面用案例数字对齐两种视角。
原始备注：这页要让听众放心：安全是架构边界，不是提示词。可把 7 道闸门理解为物理动作的审批链。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本页一句话：架构优势不是模块更多，而是可靠性、解释性、安全性、连续性和扩展性可以被验证。
面向老板：管理层看到的是风险可控、故障可恢复、现场可连续使用；这些不是口号，而是案例中可数的节点、事务和世界版本。
面向 CTO：局部能力通过协议替换，故障定位落在具体节点和工件，安全副作用集中在 Runtime；参考数据是验证架构的证据，不应直接当成生产 SLA。
讲解重点：
- 把 16/34 节点、5/10 事务、127/275 事件等数字作为可追溯证据，而不是性能承诺。
- 工程效率来自局部重规划和局部修复，而不是每次整条流程重做。
可能追问与回答：
- 问：这些优势如何变成 KPI？
  答：可进一步定义任务成功率、恢复收敛率、人工介入率、过期计划拦截率、回放完整率和单任务平均重规划范围。
过渡：最后把当前参考实现和真正生产部署之间的差距讲清楚，便于形成可执行决策。
原始备注：不要只说架构优雅，要把价值和案例数字绑定：可靠性、解释性、扩展性、安全性、连续性。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本页一句话：参考实现已经验证架构契约，生产化要补的是持久化、真实设备、运维治理和评测体系。
面向老板：当前适合做可观测、可回放、可注入故障的试点；不应把模拟器验证直接包装成生产完成。
面向 CTO：Store 需要持久化树、栈、事件、别名和工件的同事务落盘；真实 Backend 需要 observation/reconciliation；同时补认证、多操作员、指标、追踪和策略评测。
讲解重点：
- P0 先解决状态可靠保存和真实机器人适配，P1 再补运维与评测，P2 才扩展规模化编排。
- 试点任务要能观测、能回放、能故障注入，并且副作用边界可明确验证。
可能追问与回答：
- 问：第一阶段最合理的试点是什么？
  答：选择一个目标明确、动作可回放、故障可构造且能量化成功条件的放置或搬运任务。
过渡：最后用三句话收束：谁管控制平面，谁承载现实，失败如何被重新纳入工作流。
原始备注：主动讲局限会增加可信度：当前实现验证架构，生产化主要补持久化、真实后端、运维治理和评测体系。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本页一句话：Kernel 管控制平面，Harness 承载物理世界，Repair 把失败变成可治理的工作。
面向老板：决策不是继续堆模型能力，而是选一个真实试点，把可控执行能力跑通并量化。
面向 CTO：下一步按四个动作推进：确定任务边界，接入持久化 Store，接入真实 Backend，建立故障注入、回放和指标体系。
讲解重点：
- 重复核心判断：模型负责意图，系统负责状态和副作用。
- 把架构优势落到可验证的试点结果，而不是停留在图示层面。
可能追问与回答：
- 问：今天需要做什么决策？
  答：确认试点场景、验收指标和生产化优先级；架构契约已经明确，下一步是用真实任务验证收益。
过渡：进入试点范围和验收指标讨论。
原始备注：最后只留下三句话：Kernel 管控制平面，Harness 承载物理世界，Repair 把失败变成工作。然后进入试点决策。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T_MASTER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3"/>
          </a:solidFill>
          <a:ln w="12700">
            <a:solidFill>
              <a:srgbClr val="F4F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40080"/>
            <a:ext cx="4114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架构讲解  /  管理层 + CTO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115568"/>
            <a:ext cx="6492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Recursive Tree Agent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6126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让机器人从“能执行”走向“可解释、可恢复、可扩展”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633472"/>
            <a:ext cx="5394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一套把自然语言意图、任务树、规划工件、物理动作、观测验证和故障修复串成闭环的 Agent 运行时。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931920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41513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8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96112" y="4535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权威任务树状态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41513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40280" y="4535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节点职责类型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84448" y="4535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状态边界：任务 / 世界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4773168"/>
            <a:ext cx="48006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失败不是异常分支，而是可追踪、可验证、可重试的任务。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从意图到现实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1444752"/>
            <a:ext cx="603504" cy="603504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272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7754112" y="2048256"/>
            <a:ext cx="1645920" cy="438912"/>
          </a:xfrm>
          <a:prstGeom prst="line">
            <a:avLst/>
          </a:prstGeom>
          <a:noFill/>
          <a:ln w="2540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2487168"/>
            <a:ext cx="877824" cy="502920"/>
          </a:xfrm>
          <a:prstGeom prst="roundRect">
            <a:avLst>
              <a:gd name="adj" fmla="val 14545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24928" y="2560320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9107424" y="2048256"/>
            <a:ext cx="292608" cy="438912"/>
          </a:xfrm>
          <a:prstGeom prst="line">
            <a:avLst/>
          </a:prstGeom>
          <a:noFill/>
          <a:ln w="25400">
            <a:solidFill>
              <a:srgbClr val="187F7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68512" y="2487168"/>
            <a:ext cx="877824" cy="502920"/>
          </a:xfrm>
          <a:prstGeom prst="roundRect">
            <a:avLst>
              <a:gd name="adj" fmla="val 14545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0" y="2560320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00032" y="2048256"/>
            <a:ext cx="1060704" cy="438912"/>
          </a:xfrm>
          <a:prstGeom prst="line">
            <a:avLst/>
          </a:prstGeom>
          <a:noFill/>
          <a:ln w="25400">
            <a:solidFill>
              <a:srgbClr val="5A8C5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21824" y="2487168"/>
            <a:ext cx="877824" cy="502920"/>
          </a:xfrm>
          <a:prstGeom prst="roundRect">
            <a:avLst>
              <a:gd name="adj" fmla="val 14545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131552" y="2560320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00032" y="2048256"/>
            <a:ext cx="2057400" cy="1792224"/>
          </a:xfrm>
          <a:prstGeom prst="line">
            <a:avLst/>
          </a:prstGeom>
          <a:noFill/>
          <a:ln w="25400">
            <a:solidFill>
              <a:srgbClr val="B34A7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1018520" y="3840480"/>
            <a:ext cx="877824" cy="502920"/>
          </a:xfrm>
          <a:prstGeom prst="roundRect">
            <a:avLst>
              <a:gd name="adj" fmla="val 14545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128248" y="3913632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555480" y="2212848"/>
            <a:ext cx="1801368" cy="1627632"/>
          </a:xfrm>
          <a:prstGeom prst="line">
            <a:avLst/>
          </a:prstGeom>
          <a:noFill/>
          <a:ln w="25400">
            <a:solidFill>
              <a:srgbClr val="B34A70"/>
            </a:solidFill>
            <a:prstDash val="dash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35240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7780">
            <a:solidFill>
              <a:srgbClr val="18303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44968" y="3913632"/>
            <a:ext cx="17007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真实世界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44968" y="4169664"/>
            <a:ext cx="17007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/ 场景 / 观测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V="1">
            <a:off x="8595360" y="2048256"/>
            <a:ext cx="502920" cy="1792224"/>
          </a:xfrm>
          <a:prstGeom prst="line">
            <a:avLst/>
          </a:prstGeom>
          <a:noFill/>
          <a:ln w="22860">
            <a:solidFill>
              <a:srgbClr val="187F75"/>
            </a:solidFill>
            <a:prstDash val="dash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750808" y="3108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观测反馈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43800" y="4983480"/>
            <a:ext cx="3246120" cy="329184"/>
          </a:xfrm>
          <a:prstGeom prst="roundRect">
            <a:avLst>
              <a:gd name="adj" fmla="val 22222"/>
            </a:avLst>
          </a:prstGeom>
          <a:solidFill>
            <a:srgbClr val="E7F4F1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499262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GeminiER2 + Harness + MuJoCo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" y="6172200"/>
            <a:ext cx="5303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A98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D:\Task Recursive Tree 当前参考实现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先讲结论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这是一个把 Agent 决策变成可治理执行系统的架构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老板先看结果，CTO 再看实现：同一套设计同时回答可靠性、解释性、扩展性和安全性。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FFF0EA"/>
          </a:solidFill>
          <a:ln w="1651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59105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6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952" y="2057400"/>
            <a:ext cx="224942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决策与动作分离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2523744"/>
            <a:ext cx="224942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只提交受约束的任务意图；机器人动作必须经过任务树和物理边界。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138988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FFF5D9"/>
          </a:solidFill>
          <a:ln w="1651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75304" y="159105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48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75304" y="2057400"/>
            <a:ext cx="224942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任务树成为控制平面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5304" y="2523744"/>
            <a:ext cx="224942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Kernel 统一处理生命周期、顺序、重试、暂停、取消和修复。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138988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7F4F1"/>
          </a:solidFill>
          <a:ln w="1651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91656" y="159105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91656" y="2057400"/>
            <a:ext cx="224942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状态和工件可追溯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91656" y="2523744"/>
            <a:ext cx="224942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世界快照、规划工件、事件日志和执行栈让每一步都有证据。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43416" y="138988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FBEAF0"/>
          </a:solidFill>
          <a:ln w="1651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08008" y="1591056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34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08008" y="2057400"/>
            <a:ext cx="224942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失败显式递归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08008" y="2523744"/>
            <a:ext cx="224942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路线被挡不是“再试一次”，而是挂载 repair 子树，完成修复后回到原节点。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一条任务如何穿过系统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4187952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261104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" y="4572000"/>
            <a:ext cx="1746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人的目标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4581144"/>
            <a:ext cx="210312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62072" y="4187952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4261104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TaskProgram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71800" y="4572000"/>
            <a:ext cx="1746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受约束意图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28032" y="4581144"/>
            <a:ext cx="210312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038344" y="4187952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4261104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任务树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48072" y="4572000"/>
            <a:ext cx="1746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控制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04304" y="4581144"/>
            <a:ext cx="210312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14616" y="4187952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24344" y="4261104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ActionRequest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24344" y="4572000"/>
            <a:ext cx="1746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可执行请求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80576" y="4581144"/>
            <a:ext cx="210312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390888" y="4187952"/>
            <a:ext cx="1965960" cy="786384"/>
          </a:xfrm>
          <a:prstGeom prst="roundRect">
            <a:avLst>
              <a:gd name="adj" fmla="val 9302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0616" y="4261104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观测验证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00616" y="4572000"/>
            <a:ext cx="1746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真实证据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0120" y="5486400"/>
            <a:ext cx="102412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9848" y="5522976"/>
            <a:ext cx="100218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核心判断：把“模型可能做什么”与“系统允许现在做什么”分开，才能把 Agent 带进真实世界。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三个核心对象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先把三个对象分开，整套架构就容易理解了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可以把系统类比成：任务清单 + 现场账本 + 带版本的施工图。三者各自回答一个问题，不能混成一个大上下文。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337560" cy="3310128"/>
          </a:xfrm>
          <a:prstGeom prst="roundRect">
            <a:avLst>
              <a:gd name="adj" fmla="val 2210"/>
            </a:avLst>
          </a:prstGeom>
          <a:solidFill>
            <a:srgbClr val="FFF5D9"/>
          </a:solidFill>
          <a:ln w="15875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664208"/>
            <a:ext cx="420624" cy="420624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6479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9888" y="1947672"/>
            <a:ext cx="214884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Tree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50392" y="2359152"/>
            <a:ext cx="29077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48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95728"/>
            <a:ext cx="26883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回答：接下来做什么？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" y="2944368"/>
            <a:ext cx="290779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待办清单 + 过程记录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91440" cy="91440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01568"/>
            <a:ext cx="25877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节点、边、状态、执行栈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3822192"/>
            <a:ext cx="91440" cy="91440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49040"/>
            <a:ext cx="25877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记录顺序、验证点和修复入口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850392" y="4187952"/>
            <a:ext cx="2907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权威所有者：TaskTreeKernel / TaskTreeStore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389120" y="1417320"/>
            <a:ext cx="3337560" cy="3310128"/>
          </a:xfrm>
          <a:prstGeom prst="roundRect">
            <a:avLst>
              <a:gd name="adj" fmla="val 2210"/>
            </a:avLst>
          </a:prstGeom>
          <a:solidFill>
            <a:srgbClr val="E7F4F1"/>
          </a:solidFill>
          <a:ln w="15875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9432" y="1664208"/>
            <a:ext cx="420624" cy="420624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176479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38928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38928" y="1947672"/>
            <a:ext cx="214884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Model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99432" y="2359152"/>
            <a:ext cx="29077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395728"/>
            <a:ext cx="26883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回答：现场现在是什么？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99432" y="2944368"/>
            <a:ext cx="290779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现场账本 + 最新地图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3474720"/>
            <a:ext cx="91440" cy="91440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01568"/>
            <a:ext cx="25877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机器人、物体、障碍物和版本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663440" y="3822192"/>
            <a:ext cx="91440" cy="91440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749040"/>
            <a:ext cx="25877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只接受 Observation 形成的新证据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4599432" y="4187952"/>
            <a:ext cx="2907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事实来源：Observation → WorldModel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138160" y="1417320"/>
            <a:ext cx="3337560" cy="3310128"/>
          </a:xfrm>
          <a:prstGeom prst="roundRect">
            <a:avLst>
              <a:gd name="adj" fmla="val 2210"/>
            </a:avLst>
          </a:prstGeom>
          <a:solidFill>
            <a:srgbClr val="F1ECF8"/>
          </a:solidFill>
          <a:ln w="15875">
            <a:solidFill>
              <a:srgbClr val="74559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8472" y="1664208"/>
            <a:ext cx="420624" cy="420624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176479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87968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规划工件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87968" y="1947672"/>
            <a:ext cx="214884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48472" y="2359152"/>
            <a:ext cx="29077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7455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2395728"/>
            <a:ext cx="26883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45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回答：基于这个现场怎么做？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48472" y="2944368"/>
            <a:ext cx="290779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带版本的施工图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412480" y="3474720"/>
            <a:ext cx="91440" cy="91440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3401568"/>
            <a:ext cx="25877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Binding / Pick / Transfer / Navigation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8412480" y="3822192"/>
            <a:ext cx="91440" cy="91440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3749040"/>
            <a:ext cx="258775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携带快照、依赖和模型指纹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8348472" y="4187952"/>
            <a:ext cx="2907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45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不可变数据：变化时发布新版本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777240" y="480060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A98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术语速译：TaskProgram = 任务意图  ·  GraphDelta = 增量挂载  ·  Diagnostic = 结构化失败  ·  Repair = 修复子树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713232" y="5010912"/>
            <a:ext cx="3108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一条任务如何把三者串起来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080" y="5340096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5413248"/>
            <a:ext cx="14081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人的目标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4081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67712" y="5641848"/>
            <a:ext cx="18288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450592" y="5340096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0" y="5413248"/>
            <a:ext cx="14081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任务树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560320" y="5724144"/>
            <a:ext cx="14081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决定顺序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078224" y="5641848"/>
            <a:ext cx="18288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261104" y="5340096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F1ECF8"/>
          </a:solidFill>
          <a:ln w="17780">
            <a:solidFill>
              <a:srgbClr val="7455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70832" y="5413248"/>
            <a:ext cx="14081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规划工件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370832" y="5724144"/>
            <a:ext cx="14081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连接计划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88736" y="5641848"/>
            <a:ext cx="18288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071616" y="5340096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81344" y="5413248"/>
            <a:ext cx="14081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物理动作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181344" y="5724144"/>
            <a:ext cx="14081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受限请求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699248" y="5641848"/>
            <a:ext cx="18288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882128" y="5340096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91856" y="5413248"/>
            <a:ext cx="14081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世界观测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991856" y="5724144"/>
            <a:ext cx="14081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真实证据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509760" y="5641848"/>
            <a:ext cx="18288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692640" y="5340096"/>
            <a:ext cx="1627632" cy="603504"/>
          </a:xfrm>
          <a:prstGeom prst="roundRect">
            <a:avLst>
              <a:gd name="adj" fmla="val 12121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802368" y="5413248"/>
            <a:ext cx="14081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状态回流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802368" y="5724144"/>
            <a:ext cx="14081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 / 修复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005840" y="6053328"/>
            <a:ext cx="10149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240">
            <a:solidFill>
              <a:srgbClr val="1830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15568" y="6089904"/>
            <a:ext cx="99303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一句话：树管顺序，世界给证据，工件把计划接到动作；三者分开，系统才可审计。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73" name="Text 71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为什么要这样设计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为什么不能让 LLM 直接调用机器人 API？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直接调用在 Demo 阶段很快，但一旦进入连续场景、动态障碍和故障恢复，隐式状态会变成系统性风险。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516636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53312"/>
            <a:ext cx="5166360" cy="502920"/>
          </a:xfrm>
          <a:prstGeom prst="roundRect">
            <a:avLst>
              <a:gd name="adj" fmla="val 14545"/>
            </a:avLst>
          </a:prstGeom>
          <a:solidFill>
            <a:srgbClr val="FFF0EA"/>
          </a:solidFill>
          <a:ln w="15240">
            <a:solidFill>
              <a:srgbClr val="D96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9961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传统黑盒 Agent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121408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9848" y="2194560"/>
            <a:ext cx="9235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9848" y="2514600"/>
            <a:ext cx="9235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自由生成工具调用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2121408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4328" y="2194560"/>
            <a:ext cx="11064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24328" y="2514600"/>
            <a:ext cx="110642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+ 副作用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2121408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15968" y="2194560"/>
            <a:ext cx="9235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15968" y="2514600"/>
            <a:ext cx="9235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直接改变现实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03120" y="2468880"/>
            <a:ext cx="411480" cy="914"/>
          </a:xfrm>
          <a:prstGeom prst="line">
            <a:avLst/>
          </a:prstGeom>
          <a:noFill/>
          <a:ln w="22860">
            <a:solidFill>
              <a:srgbClr val="D96C4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2468880"/>
            <a:ext cx="365760" cy="914"/>
          </a:xfrm>
          <a:prstGeom prst="line">
            <a:avLst/>
          </a:prstGeom>
          <a:noFill/>
          <a:ln w="22860">
            <a:solidFill>
              <a:srgbClr val="D96C4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" y="3346704"/>
            <a:ext cx="100584" cy="100584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246120"/>
            <a:ext cx="42976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计划藏在模型上下文里，外部无法审计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941832" y="3840480"/>
            <a:ext cx="100584" cy="100584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3739896"/>
            <a:ext cx="42976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工具执行后，模型未必知道真实世界发生了什么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41832" y="4334256"/>
            <a:ext cx="100584" cy="100584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4712" y="4233672"/>
            <a:ext cx="42976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重试可能重复副作用，恢复逻辑散落在各个工具里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941832" y="4828032"/>
            <a:ext cx="100584" cy="100584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" y="4727448"/>
            <a:ext cx="42976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计划一旦过期，系统没有统一的失效判定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1024128" y="5376672"/>
            <a:ext cx="4251960" cy="329184"/>
          </a:xfrm>
          <a:prstGeom prst="roundRect">
            <a:avLst>
              <a:gd name="adj" fmla="val 22222"/>
            </a:avLst>
          </a:prstGeom>
          <a:solidFill>
            <a:srgbClr val="FFF0EA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53858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风险：不可解释 · 难恢复 · 难扩展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28232" y="1353312"/>
            <a:ext cx="516636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28232" y="1353312"/>
            <a:ext cx="5166360" cy="502920"/>
          </a:xfrm>
          <a:prstGeom prst="roundRect">
            <a:avLst>
              <a:gd name="adj" fmla="val 14545"/>
            </a:avLst>
          </a:prstGeom>
          <a:solidFill>
            <a:srgbClr val="E7F4F1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1499616"/>
            <a:ext cx="3566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Recursive Tree Agent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766560" y="201168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76288" y="2084832"/>
            <a:ext cx="8595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76288" y="2404872"/>
            <a:ext cx="85953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TaskProgram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47888" y="20116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57616" y="2084832"/>
            <a:ext cx="10149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57616" y="2404872"/>
            <a:ext cx="1014984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树生命周期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93808" y="201168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003536" y="2084832"/>
            <a:ext cx="10149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003536" y="2404872"/>
            <a:ext cx="1014984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ActionRequest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845552" y="2331720"/>
            <a:ext cx="402336" cy="914"/>
          </a:xfrm>
          <a:prstGeom prst="line">
            <a:avLst/>
          </a:prstGeom>
          <a:noFill/>
          <a:ln w="2032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482328" y="2331720"/>
            <a:ext cx="411480" cy="914"/>
          </a:xfrm>
          <a:prstGeom prst="line">
            <a:avLst/>
          </a:prstGeom>
          <a:noFill/>
          <a:ln w="2032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406640" y="3246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516368" y="3319272"/>
            <a:ext cx="16093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516368" y="3639312"/>
            <a:ext cx="1609344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每条物理命令后采样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829800" y="32461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939528" y="3319272"/>
            <a:ext cx="11978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939528" y="3639312"/>
            <a:ext cx="1197864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只读快照证据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 flipH="1">
            <a:off x="8321040" y="2651760"/>
            <a:ext cx="2176272" cy="594360"/>
          </a:xfrm>
          <a:prstGeom prst="line">
            <a:avLst/>
          </a:prstGeom>
          <a:noFill/>
          <a:ln w="21590">
            <a:solidFill>
              <a:srgbClr val="187F75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235440" y="3566160"/>
            <a:ext cx="594360" cy="914"/>
          </a:xfrm>
          <a:prstGeom prst="line">
            <a:avLst/>
          </a:prstGeom>
          <a:noFill/>
          <a:ln w="20320">
            <a:solidFill>
              <a:srgbClr val="5A8C55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903720" y="438912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013448" y="4462272"/>
            <a:ext cx="11978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013448" y="4782312"/>
            <a:ext cx="1197864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失败结构化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81160" y="43891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390888" y="4462272"/>
            <a:ext cx="13350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子树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390888" y="4782312"/>
            <a:ext cx="1335024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修复后重试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 flipV="1">
            <a:off x="7589520" y="3886200"/>
            <a:ext cx="731520" cy="502920"/>
          </a:xfrm>
          <a:prstGeom prst="line">
            <a:avLst/>
          </a:prstGeom>
          <a:noFill/>
          <a:ln w="21590">
            <a:solidFill>
              <a:srgbClr val="B34A70"/>
            </a:solidFill>
            <a:prstDash val="dash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321040" y="4709160"/>
            <a:ext cx="960120" cy="914"/>
          </a:xfrm>
          <a:prstGeom prst="line">
            <a:avLst/>
          </a:prstGeom>
          <a:noFill/>
          <a:ln w="21590">
            <a:solidFill>
              <a:srgbClr val="B34A70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812280" y="5376672"/>
            <a:ext cx="4407408" cy="384048"/>
          </a:xfrm>
          <a:prstGeom prst="roundRect">
            <a:avLst>
              <a:gd name="adj" fmla="val 19048"/>
            </a:avLst>
          </a:prstGeom>
          <a:solidFill>
            <a:srgbClr val="E7F4F1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22008" y="5413248"/>
            <a:ext cx="41879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收益：每一步都有“谁决定、用什么工件、执行了什么、观察到了什么、失败如何处理”的答案。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63" name="Text 61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高层设计原则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六条原则，决定这套系统为什么可控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这些原则不是代码风格，而是所有权、状态、数据契约和故障处理的约束。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5D9"/>
          </a:solidFill>
          <a:ln w="1397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393192" cy="393192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82496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单一所有权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1975104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TaskTreeStore 是唯一运行时树；TaskTreeKernel 是唯一写入者。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AF1FA"/>
          </a:solidFill>
          <a:ln w="1397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1600200"/>
            <a:ext cx="393192" cy="393192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682496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02352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类型化边界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02352" y="1975104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分解器、系统操作、物理技能、修复器各有专属上下文。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7F4F1"/>
          </a:solidFill>
          <a:ln w="1397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600200"/>
            <a:ext cx="393192" cy="393192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682496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51392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任务与世界分层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51392" y="1975104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每个任务新建树；物理世界、后端和事务账本持续复用。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29535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1ECF8"/>
          </a:solidFill>
          <a:ln w="13970">
            <a:solidFill>
              <a:srgbClr val="74559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136392"/>
            <a:ext cx="393192" cy="393192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2186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53312" y="3136392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工件不可变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53312" y="3511296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计划携带快照、依赖版本和模型指纹；重规划发布新工件。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29535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DF6E9"/>
          </a:solidFill>
          <a:ln w="13970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53712" y="3136392"/>
            <a:ext cx="393192" cy="393192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2186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3136392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观测驱动闭环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02352" y="3511296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动作后必采样；验证只读 WorldSnapshot，不相信隐式内部状态。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0" y="29535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BEAF0"/>
          </a:solidFill>
          <a:ln w="1397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02752" y="3136392"/>
            <a:ext cx="393192" cy="393192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32186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51392" y="3136392"/>
            <a:ext cx="2331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失败显式递归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851392" y="3511296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 → RepairProposal → repair 子树 → 原节点重试。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371600" y="4892040"/>
            <a:ext cx="9418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183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81328" y="4928616"/>
            <a:ext cx="919886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设计目标：把不可控的隐式行为，变成可审计的显式状态。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600200" y="5650992"/>
            <a:ext cx="8961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因此，算法可以替换，机器人可以替换，任务树的控制逻辑和安全边界不需要被一起重写。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总体架构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四层结构：入口、编译、任务树内核、物理世界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读图方向从左到右、从上到下；实线是主执行链，虚线是状态/证据反馈，粉色是修复回路。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0EA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71600"/>
            <a:ext cx="11978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入口与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258568"/>
            <a:ext cx="119786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编译与边界翻译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FF5D9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3145536"/>
            <a:ext cx="1197864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任务树控制平面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599432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7F4F1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4709160"/>
            <a:ext cx="1197864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物理执行与世界反馈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12848" y="1353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22576" y="1426464"/>
            <a:ext cx="11978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22576" y="1746504"/>
            <a:ext cx="119786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 / 文本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86200" y="1353312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95928" y="1426464"/>
            <a:ext cx="17007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+ HTTP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95928" y="1746504"/>
            <a:ext cx="170078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只读观察 / 提交任务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35331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0488" y="1426464"/>
            <a:ext cx="16093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GeminiER2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0488" y="1746504"/>
            <a:ext cx="160934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规划与目标解析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1353312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93608" y="1426464"/>
            <a:ext cx="21579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ContinuousTaskSession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93608" y="1746504"/>
            <a:ext cx="215798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串行任务；共享物理世界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30168" y="1627632"/>
            <a:ext cx="256032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06440" y="1627632"/>
            <a:ext cx="27432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09560" y="1627632"/>
            <a:ext cx="27432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12848" y="2249424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322576" y="2322576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TaskCompiler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22576" y="2642616"/>
            <a:ext cx="174650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编译期 TaskTree DTO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07992" y="2249424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2322576"/>
            <a:ext cx="1837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KernelCompilerBridge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2642616"/>
            <a:ext cx="183794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translate_harness_tree()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03720" y="2249424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013448" y="2322576"/>
            <a:ext cx="17007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TaskTreeDefinition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13448" y="2642616"/>
            <a:ext cx="170078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根节点 + GraphDelta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98280" y="2249424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08008" y="2322576"/>
            <a:ext cx="20208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KernelExecutorBridge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08008" y="2642616"/>
            <a:ext cx="2020824" cy="82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装配每个任务的执行环境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78808" y="2523744"/>
            <a:ext cx="329184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65392" y="2523744"/>
            <a:ext cx="338328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823960" y="2523744"/>
            <a:ext cx="27432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212848" y="3246120"/>
            <a:ext cx="2907792" cy="822960"/>
          </a:xfrm>
          <a:prstGeom prst="roundRect">
            <a:avLst>
              <a:gd name="adj" fmla="val 8889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322576" y="3355848"/>
            <a:ext cx="256032" cy="256032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22576" y="33604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322576" y="3310128"/>
            <a:ext cx="26883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TaskTreeKernel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322576" y="3675888"/>
            <a:ext cx="268833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唯一生命周期解释器 / Store 唯一写入者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0" y="324612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F1ECF8"/>
          </a:solidFill>
          <a:ln w="17780">
            <a:solidFill>
              <a:srgbClr val="74559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596128" y="3319272"/>
            <a:ext cx="20208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TaskTreeStore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596128" y="3675888"/>
            <a:ext cx="202082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唯一权威运行时树状态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92440" y="324612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202168" y="3319272"/>
            <a:ext cx="30266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适配器集合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202168" y="3675888"/>
            <a:ext cx="302666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 / 系统操作 / 物理技能 / 修复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5120640" y="3657600"/>
            <a:ext cx="365760" cy="914"/>
          </a:xfrm>
          <a:prstGeom prst="line">
            <a:avLst/>
          </a:prstGeom>
          <a:noFill/>
          <a:ln w="2159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726680" y="3657600"/>
            <a:ext cx="365760" cy="914"/>
          </a:xfrm>
          <a:prstGeom prst="line">
            <a:avLst/>
          </a:prstGeom>
          <a:noFill/>
          <a:ln w="2159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5715000" y="41788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45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只读投影 / Inspector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83680" y="4069080"/>
            <a:ext cx="914" cy="301752"/>
          </a:xfrm>
          <a:prstGeom prst="line">
            <a:avLst/>
          </a:prstGeom>
          <a:noFill/>
          <a:ln w="15240">
            <a:solidFill>
              <a:srgbClr val="74559A"/>
            </a:solidFill>
            <a:prstDash val="dash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212848" y="4828032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322576" y="4901184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PhysicalSkill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322576" y="5221224"/>
            <a:ext cx="174650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+ 工件 → ActionRequest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507992" y="4828032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617720" y="4901184"/>
            <a:ext cx="20208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HarnessRuntime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617720" y="5221224"/>
            <a:ext cx="202082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新鲜度 / guards / leases / transaction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114032" y="4828032"/>
            <a:ext cx="16642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18303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223760" y="4901184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MuJoCo / Backend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223760" y="5221224"/>
            <a:ext cx="1444752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机器人执行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098280" y="4828032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208008" y="4901184"/>
            <a:ext cx="13533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208008" y="5221224"/>
            <a:ext cx="1353312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每条命令后采样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0972800" y="4828032"/>
            <a:ext cx="777240" cy="658368"/>
          </a:xfrm>
          <a:prstGeom prst="roundRect">
            <a:avLst>
              <a:gd name="adj" fmla="val 11111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1082528" y="4901184"/>
            <a:ext cx="5577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Model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1082528" y="5221224"/>
            <a:ext cx="557784" cy="192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更新真实状态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178808" y="5157216"/>
            <a:ext cx="329184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6748272" y="5157216"/>
            <a:ext cx="36576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778240" y="5157216"/>
            <a:ext cx="32004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0671048" y="5157216"/>
            <a:ext cx="301752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356848" y="4187952"/>
            <a:ext cx="914" cy="640080"/>
          </a:xfrm>
          <a:prstGeom prst="line">
            <a:avLst/>
          </a:prstGeom>
          <a:noFill/>
          <a:ln w="19050">
            <a:solidFill>
              <a:srgbClr val="5A8C55"/>
            </a:solidFill>
            <a:prstDash val="dash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 flipH="1">
            <a:off x="9692640" y="4187952"/>
            <a:ext cx="1664208" cy="914"/>
          </a:xfrm>
          <a:prstGeom prst="line">
            <a:avLst/>
          </a:prstGeom>
          <a:noFill/>
          <a:ln w="19050">
            <a:solidFill>
              <a:srgbClr val="5A8C55"/>
            </a:solidFill>
            <a:prstDash val="dash"/>
            <a:headEnd type="none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9921240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世界快照 / 证据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686800" y="4069080"/>
            <a:ext cx="914" cy="484632"/>
          </a:xfrm>
          <a:prstGeom prst="line">
            <a:avLst/>
          </a:prstGeom>
          <a:noFill/>
          <a:ln w="20320">
            <a:solidFill>
              <a:srgbClr val="B34A70"/>
            </a:solidFill>
            <a:prstDash val="dash"/>
            <a:headEnd type="none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7114032" y="5715000"/>
            <a:ext cx="3639312" cy="347472"/>
          </a:xfrm>
          <a:prstGeom prst="roundRect">
            <a:avLst>
              <a:gd name="adj" fmla="val 21053"/>
            </a:avLst>
          </a:prstGeom>
          <a:solidFill>
            <a:srgbClr val="FBEAF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59752" y="572414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 → RepairProposal → repair 子树 → 重试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212848" y="5715000"/>
            <a:ext cx="3456432" cy="347472"/>
          </a:xfrm>
          <a:prstGeom prst="roundRect">
            <a:avLst>
              <a:gd name="adj" fmla="val 21053"/>
            </a:avLst>
          </a:prstGeom>
          <a:solidFill>
            <a:srgbClr val="FFF5D9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58568" y="572414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 / IK / RRT 是能力，不是任务节点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87" name="Text 85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状态边界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最关键的工程取舍：树隔离，世界连续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如果把多个任务的节点混在一棵树里，审计和恢复会变复杂；如果每次连物理世界一起重置，又失去连续操作能力。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257800" cy="4462272"/>
          </a:xfrm>
          <a:prstGeom prst="roundRect">
            <a:avLst>
              <a:gd name="adj" fmla="val 1639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每个任务新建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任务局部控制平面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56032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program/task-0001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270662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1 根节点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78608" y="2926080"/>
            <a:ext cx="914" cy="155448"/>
          </a:xfrm>
          <a:prstGeom prst="line">
            <a:avLst/>
          </a:prstGeom>
          <a:noFill/>
          <a:ln w="1651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308152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15468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TaskTreeStore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330098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节点、边、栈、事件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78608" y="3520440"/>
            <a:ext cx="914" cy="155448"/>
          </a:xfrm>
          <a:prstGeom prst="line">
            <a:avLst/>
          </a:prstGeom>
          <a:noFill/>
          <a:ln w="1651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367588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74904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TaskTreeKernel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89534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生命周期与重试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78608" y="4114800"/>
            <a:ext cx="914" cy="155448"/>
          </a:xfrm>
          <a:prstGeom prst="line">
            <a:avLst/>
          </a:prstGeom>
          <a:noFill/>
          <a:ln w="1651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427024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34340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Inspector / Projection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48970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只读快照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516636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1755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2 再创建一套：program/task-0002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417320"/>
            <a:ext cx="5257800" cy="4462272"/>
          </a:xfrm>
          <a:prstGeom prst="roundRect">
            <a:avLst>
              <a:gd name="adj" fmla="val 1639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3796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跨任务复用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37960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物理世界与运行基础设施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248716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87F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256032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 / World Model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47688" y="270662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实体、机器人、场景状态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02168" y="2926080"/>
            <a:ext cx="914" cy="155448"/>
          </a:xfrm>
          <a:prstGeom prst="line">
            <a:avLst/>
          </a:prstGeom>
          <a:noFill/>
          <a:ln w="16510">
            <a:solidFill>
              <a:srgbClr val="187F7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37960" y="308152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87F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315468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Perception / Predicates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47688" y="330098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持续产生观测与证据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02168" y="3520440"/>
            <a:ext cx="914" cy="155448"/>
          </a:xfrm>
          <a:prstGeom prst="line">
            <a:avLst/>
          </a:prstGeom>
          <a:noFill/>
          <a:ln w="16510">
            <a:solidFill>
              <a:srgbClr val="187F7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537960" y="367588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87F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47688" y="374904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HarnessRuntime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47688" y="389534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工具、租约、事务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02168" y="4114800"/>
            <a:ext cx="914" cy="155448"/>
          </a:xfrm>
          <a:prstGeom prst="line">
            <a:avLst/>
          </a:prstGeom>
          <a:noFill/>
          <a:ln w="16510">
            <a:solidFill>
              <a:srgbClr val="187F7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37960" y="4270248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87F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7688" y="4343400"/>
            <a:ext cx="31181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MuJoCo / RobotBackend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47688" y="4489704"/>
            <a:ext cx="31181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同一台机器人继续工作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37960" y="516636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51755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1 改变的世界，成为任务 2 的起点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97880" y="3611880"/>
            <a:ext cx="365760" cy="914"/>
          </a:xfrm>
          <a:prstGeom prst="line">
            <a:avLst/>
          </a:prstGeom>
          <a:noFill/>
          <a:ln w="25400">
            <a:solidFill>
              <a:srgbClr val="18303A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833872" y="3172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隔离树状态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833872" y="38221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共享现实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1874520" y="6144768"/>
            <a:ext cx="84124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830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84248" y="6181344"/>
            <a:ext cx="819302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管理层语言：任务可以审计；现场不会被重置。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内核机制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TaskTreeKernel 是整个系统的执行控制平面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它不负责发明路径，也不负责控制电机；它负责决定哪个节点现在可以做、做完如何确认、失败如何收敛。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一个节点的生命周期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41832" y="1719072"/>
            <a:ext cx="256032" cy="256032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6936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71907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78608" y="171907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建立运行态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9848" y="1975104"/>
            <a:ext cx="914" cy="246888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41832" y="2221992"/>
            <a:ext cx="256032" cy="256032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27228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9888" y="222199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已满足可跳过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9848" y="2478024"/>
            <a:ext cx="914" cy="246888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41832" y="2724912"/>
            <a:ext cx="256032" cy="256032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277520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272491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78608" y="272491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快照谓词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9848" y="2980944"/>
            <a:ext cx="914" cy="246888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41832" y="3227832"/>
            <a:ext cx="256032" cy="256032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2781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89888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/ 展开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78608" y="322783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系统操作或物理请求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9848" y="3483864"/>
            <a:ext cx="914" cy="246888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41832" y="3730752"/>
            <a:ext cx="256032" cy="256032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378104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89888" y="373075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子节点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78608" y="373075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 / selector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69848" y="3986784"/>
            <a:ext cx="914" cy="246888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41832" y="4233672"/>
            <a:ext cx="256032" cy="256032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428396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89888" y="423367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后置验证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78608" y="423367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观察证据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69848" y="4489704"/>
            <a:ext cx="914" cy="246888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41832" y="4736592"/>
            <a:ext cx="256032" cy="256032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" y="478688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89888" y="473659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/ 对账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78608" y="473659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失败分流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69848" y="4992624"/>
            <a:ext cx="914" cy="246888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41832" y="5239512"/>
            <a:ext cx="256032" cy="256032"/>
          </a:xfrm>
          <a:prstGeom prst="ellipse">
            <a:avLst/>
          </a:prstGeom>
          <a:solidFill>
            <a:srgbClr val="18303A"/>
          </a:solidFill>
          <a:ln w="12700">
            <a:solidFill>
              <a:srgbClr val="1830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" y="528980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89888" y="523951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78608" y="523951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/ 失败 / 阻塞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80560" y="5257800"/>
            <a:ext cx="914" cy="411480"/>
          </a:xfrm>
          <a:prstGeom prst="line">
            <a:avLst/>
          </a:prstGeom>
          <a:noFill/>
          <a:ln w="19050">
            <a:solidFill>
              <a:srgbClr val="B34A70"/>
            </a:solidFill>
            <a:prstDash val="dash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H="1">
            <a:off x="713232" y="5669280"/>
            <a:ext cx="3767328" cy="914"/>
          </a:xfrm>
          <a:prstGeom prst="line">
            <a:avLst/>
          </a:prstGeom>
          <a:noFill/>
          <a:ln w="19050">
            <a:solidFill>
              <a:srgbClr val="B34A70"/>
            </a:solidFill>
            <a:prstDash val="dash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713232" y="1965960"/>
            <a:ext cx="914" cy="3703320"/>
          </a:xfrm>
          <a:prstGeom prst="line">
            <a:avLst/>
          </a:prstGeom>
          <a:noFill/>
          <a:ln w="19050">
            <a:solidFill>
              <a:srgbClr val="B34A70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051560" y="5532120"/>
            <a:ext cx="33832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修复成功后回到失败节点的目标/前置检查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0" y="1389888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98932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负责什么？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016752" y="2221992"/>
            <a:ext cx="100584" cy="100584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2121408"/>
            <a:ext cx="45262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维护执行栈、节点运行态和事件日志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6016752" y="2734056"/>
            <a:ext cx="100584" cy="100584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2633472"/>
            <a:ext cx="45262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GraphDelta：不越界、不成环、可达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6016752" y="3246120"/>
            <a:ext cx="100584" cy="100584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3145536"/>
            <a:ext cx="45262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统一处理重试、暂停、取消、预算和对账</a:t>
            </a:r>
            <a:endParaRPr lang="en-US" sz="1220" dirty="0"/>
          </a:p>
        </p:txBody>
      </p:sp>
      <p:sp>
        <p:nvSpPr>
          <p:cNvPr id="58" name="Shape 56"/>
          <p:cNvSpPr/>
          <p:nvPr/>
        </p:nvSpPr>
        <p:spPr>
          <a:xfrm>
            <a:off x="6016752" y="3758184"/>
            <a:ext cx="100584" cy="100584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9632" y="3657600"/>
            <a:ext cx="45262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决定何时调用分解器、系统操作、物理技能或修复器</a:t>
            </a:r>
            <a:endParaRPr lang="en-US" sz="1220" dirty="0"/>
          </a:p>
        </p:txBody>
      </p:sp>
      <p:sp>
        <p:nvSpPr>
          <p:cNvPr id="60" name="Text 58"/>
          <p:cNvSpPr/>
          <p:nvPr/>
        </p:nvSpPr>
        <p:spPr>
          <a:xfrm>
            <a:off x="5989320" y="4041648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不负责什么？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016752" y="4562856"/>
            <a:ext cx="100584" cy="100584"/>
          </a:xfrm>
          <a:prstGeom prst="ellipse">
            <a:avLst/>
          </a:prstGeom>
          <a:solidFill>
            <a:srgbClr val="61727A"/>
          </a:solidFill>
          <a:ln w="12700">
            <a:solidFill>
              <a:srgbClr val="6172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9632" y="4462272"/>
            <a:ext cx="45262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 A*、IK、RRT 变成任务节点</a:t>
            </a:r>
            <a:endParaRPr lang="en-US" sz="1220" dirty="0"/>
          </a:p>
        </p:txBody>
      </p:sp>
      <p:sp>
        <p:nvSpPr>
          <p:cNvPr id="63" name="Shape 61"/>
          <p:cNvSpPr/>
          <p:nvPr/>
        </p:nvSpPr>
        <p:spPr>
          <a:xfrm>
            <a:off x="6016752" y="4892040"/>
            <a:ext cx="100584" cy="100584"/>
          </a:xfrm>
          <a:prstGeom prst="ellipse">
            <a:avLst/>
          </a:prstGeom>
          <a:solidFill>
            <a:srgbClr val="61727A"/>
          </a:solidFill>
          <a:ln w="12700">
            <a:solidFill>
              <a:srgbClr val="6172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99632" y="4791456"/>
            <a:ext cx="45262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不直接读取机器人后端内部状态</a:t>
            </a:r>
            <a:endParaRPr lang="en-US" sz="1220" dirty="0"/>
          </a:p>
        </p:txBody>
      </p:sp>
      <p:sp>
        <p:nvSpPr>
          <p:cNvPr id="65" name="Shape 63"/>
          <p:cNvSpPr/>
          <p:nvPr/>
        </p:nvSpPr>
        <p:spPr>
          <a:xfrm>
            <a:off x="6016752" y="5221224"/>
            <a:ext cx="100584" cy="100584"/>
          </a:xfrm>
          <a:prstGeom prst="ellipse">
            <a:avLst/>
          </a:prstGeom>
          <a:solidFill>
            <a:srgbClr val="61727A"/>
          </a:solidFill>
          <a:ln w="12700">
            <a:solidFill>
              <a:srgbClr val="6172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5120640"/>
            <a:ext cx="45262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不允许 LLM 或适配器直接修改 Store</a:t>
            </a:r>
            <a:endParaRPr lang="en-US" sz="1220" dirty="0"/>
          </a:p>
        </p:txBody>
      </p:sp>
      <p:sp>
        <p:nvSpPr>
          <p:cNvPr id="67" name="Shape 65"/>
          <p:cNvSpPr/>
          <p:nvPr/>
        </p:nvSpPr>
        <p:spPr>
          <a:xfrm>
            <a:off x="6400800" y="5532120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5D9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46520" y="554126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唯一写入者 = Kernel ；唯一权威状态 = Store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70" name="Text 68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职责分层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三类节点，三种权限，避免“万能 Agent 模块”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职责分离让扩展点清楚：新增任务不必改物理边界；更换机器人不必重写任务树。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182112" cy="4526280"/>
          </a:xfrm>
          <a:prstGeom prst="roundRect">
            <a:avLst>
              <a:gd name="adj" fmla="val 2299"/>
            </a:avLst>
          </a:prstGeom>
          <a:solidFill>
            <a:srgbClr val="EDF6E9"/>
          </a:solidFill>
          <a:ln w="15875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73352"/>
            <a:ext cx="28163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分解器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1984248"/>
            <a:ext cx="28163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2487168"/>
            <a:ext cx="548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86968" y="2724912"/>
            <a:ext cx="268833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5A8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复合任务节点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31136" y="3255264"/>
            <a:ext cx="914" cy="237744"/>
          </a:xfrm>
          <a:prstGeom prst="line">
            <a:avLst/>
          </a:prstGeom>
          <a:noFill/>
          <a:ln w="19050">
            <a:solidFill>
              <a:srgbClr val="5A8C5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86968" y="3575304"/>
            <a:ext cx="548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" y="3813048"/>
            <a:ext cx="268833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5A8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849624"/>
            <a:ext cx="24688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GraphDelta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子节点 + child 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46817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允许做什么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4919472"/>
            <a:ext cx="268833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只能看节点定义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86968" y="5358384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明确禁止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" y="5577840"/>
            <a:ext cx="26883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不能访问 Runtime / Backend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133088" y="1417320"/>
            <a:ext cx="3182112" cy="4526280"/>
          </a:xfrm>
          <a:prstGeom prst="roundRect">
            <a:avLst>
              <a:gd name="adj" fmla="val 2299"/>
            </a:avLst>
          </a:prstGeom>
          <a:solidFill>
            <a:srgbClr val="EAF1FA"/>
          </a:solidFill>
          <a:ln w="15875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15968" y="1673352"/>
            <a:ext cx="28163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系统操作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315968" y="1984248"/>
            <a:ext cx="28163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Operation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79976" y="2487168"/>
            <a:ext cx="548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9976" y="2724912"/>
            <a:ext cx="268833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4B78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9704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系统节点 + WorldSnapshot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24144" y="3255264"/>
            <a:ext cx="914" cy="237744"/>
          </a:xfrm>
          <a:prstGeom prst="line">
            <a:avLst/>
          </a:prstGeom>
          <a:noFill/>
          <a:ln w="1905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379976" y="3575304"/>
            <a:ext cx="548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79976" y="3813048"/>
            <a:ext cx="268833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4B78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3849624"/>
            <a:ext cx="24688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NodeOutcome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规划工件 / 诊断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79976" y="46817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允许做什么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79976" y="4919472"/>
            <a:ext cx="268833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绑定、规划、只读工具、验证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4379976" y="5358384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明确禁止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79976" y="5577840"/>
            <a:ext cx="26883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不能直接调用机器人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626096" y="1417320"/>
            <a:ext cx="3182112" cy="4526280"/>
          </a:xfrm>
          <a:prstGeom prst="roundRect">
            <a:avLst>
              <a:gd name="adj" fmla="val 2299"/>
            </a:avLst>
          </a:prstGeom>
          <a:solidFill>
            <a:srgbClr val="E7F4F1"/>
          </a:solidFill>
          <a:ln w="15875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808976" y="1673352"/>
            <a:ext cx="28163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物理技能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7808976" y="1984248"/>
            <a:ext cx="28163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Skill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72984" y="2487168"/>
            <a:ext cx="548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72984" y="2724912"/>
            <a:ext cx="268833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82712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物理节点 + Artifact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17152" y="3255264"/>
            <a:ext cx="914" cy="237744"/>
          </a:xfrm>
          <a:prstGeom prst="line">
            <a:avLst/>
          </a:prstGeom>
          <a:noFill/>
          <a:ln w="19050">
            <a:solidFill>
              <a:srgbClr val="187F75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872984" y="3575304"/>
            <a:ext cx="548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72984" y="3813048"/>
            <a:ext cx="268833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82712" y="3849624"/>
            <a:ext cx="24688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ActionRequest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 request_id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72984" y="46817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允许做什么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872984" y="4919472"/>
            <a:ext cx="268833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把计划翻译成请求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7872984" y="5358384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明确禁止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72984" y="5577840"/>
            <a:ext cx="26883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不能直接控制 Backend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1143000" y="6144768"/>
            <a:ext cx="9966960" cy="292608"/>
          </a:xfrm>
          <a:prstGeom prst="roundRect">
            <a:avLst>
              <a:gd name="adj" fmla="val 25000"/>
            </a:avLst>
          </a:prstGeom>
          <a:solidFill>
            <a:srgbClr val="FFF5D9"/>
          </a:solidFill>
          <a:ln w="15240">
            <a:solidFill>
              <a:srgbClr val="C48B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52728" y="6181344"/>
            <a:ext cx="974750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特别重要：A* / IK / RRT 属于 capabilities 的内部算法，不是任务树节点；算法迭代不会污染任务语义。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案例一：正常任务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 1：把红色杯子放进投放区，任务树如何展开？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编译器先只生成一个根节点；Kernel 运行到复合节点时，按需展开子树。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834640" cy="4800600"/>
          </a:xfrm>
          <a:prstGeom prst="roundRect">
            <a:avLst>
              <a:gd name="adj" fmla="val 2581"/>
            </a:avLst>
          </a:prstGeom>
          <a:solidFill>
            <a:srgbClr val="FFF0EA"/>
          </a:solidFill>
          <a:ln w="1524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27632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用户指令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22402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“把红色杯子放进投放区”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2240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系统先把自然语言变成两个确定的空间选择：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01568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107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object_selector → cup-red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13632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227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destination_selector → drop-zone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4681728"/>
            <a:ext cx="224028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根节点：Place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operation_kind = decomposer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control_kind = sequence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86200" y="1353312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运行时任务树（成功后）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12280" y="1627632"/>
            <a:ext cx="1280160" cy="512064"/>
          </a:xfrm>
          <a:prstGeom prst="roundRect">
            <a:avLst>
              <a:gd name="adj" fmla="val 14286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1700784"/>
            <a:ext cx="10607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1901952"/>
            <a:ext cx="10607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/ sequence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flipH="1">
            <a:off x="4251960" y="2139696"/>
            <a:ext cx="3200400" cy="219456"/>
          </a:xfrm>
          <a:prstGeom prst="line">
            <a:avLst/>
          </a:prstGeom>
          <a:noFill/>
          <a:ln w="1651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35915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04488" y="2432304"/>
            <a:ext cx="694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Resolve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04488" y="2615184"/>
            <a:ext cx="6949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 flipH="1">
            <a:off x="5349240" y="2139696"/>
            <a:ext cx="2103120" cy="219456"/>
          </a:xfrm>
          <a:prstGeom prst="line">
            <a:avLst/>
          </a:prstGeom>
          <a:noFill/>
          <a:ln w="1651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92040" y="235915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2432304"/>
            <a:ext cx="694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Pick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01768" y="2615184"/>
            <a:ext cx="6949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H="1">
            <a:off x="6446520" y="2139696"/>
            <a:ext cx="1005840" cy="219456"/>
          </a:xfrm>
          <a:prstGeom prst="line">
            <a:avLst/>
          </a:prstGeom>
          <a:noFill/>
          <a:ln w="1651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989320" y="235915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2432304"/>
            <a:ext cx="694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Transfer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099048" y="2615184"/>
            <a:ext cx="6949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452360" y="2139696"/>
            <a:ext cx="91440" cy="219456"/>
          </a:xfrm>
          <a:prstGeom prst="line">
            <a:avLst/>
          </a:prstGeom>
          <a:noFill/>
          <a:ln w="1651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086600" y="235915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6328" y="2432304"/>
            <a:ext cx="694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96328" y="2615184"/>
            <a:ext cx="6949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452360" y="2139696"/>
            <a:ext cx="1188720" cy="219456"/>
          </a:xfrm>
          <a:prstGeom prst="line">
            <a:avLst/>
          </a:prstGeom>
          <a:noFill/>
          <a:ln w="1651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183880" y="235915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93608" y="2432304"/>
            <a:ext cx="694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93608" y="2615184"/>
            <a:ext cx="6949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52360" y="2139696"/>
            <a:ext cx="2286000" cy="219456"/>
          </a:xfrm>
          <a:prstGeom prst="line">
            <a:avLst/>
          </a:prstGeom>
          <a:noFill/>
          <a:ln w="1651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281160" y="235915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90888" y="2432304"/>
            <a:ext cx="694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390888" y="2615184"/>
            <a:ext cx="6949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452360" y="2139696"/>
            <a:ext cx="3383280" cy="219456"/>
          </a:xfrm>
          <a:prstGeom prst="line">
            <a:avLst/>
          </a:prstGeom>
          <a:noFill/>
          <a:ln w="16510">
            <a:solidFill>
              <a:srgbClr val="5A8C5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378440" y="235915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88168" y="2432304"/>
            <a:ext cx="6949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 Goal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10488168" y="2615184"/>
            <a:ext cx="6949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 flipH="1">
            <a:off x="7338060" y="2907792"/>
            <a:ext cx="205740" cy="274320"/>
          </a:xfrm>
          <a:prstGeom prst="line">
            <a:avLst/>
          </a:prstGeom>
          <a:noFill/>
          <a:ln w="1270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583680" y="3182112"/>
            <a:ext cx="1508760" cy="694944"/>
          </a:xfrm>
          <a:prstGeom prst="roundRect">
            <a:avLst>
              <a:gd name="adj" fmla="val 10526"/>
            </a:avLst>
          </a:prstGeom>
          <a:solidFill>
            <a:srgbClr val="EAF1FA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3273552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 子树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6656832" y="354787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Stance  →  Grasp  →  Held?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641080" y="2907792"/>
            <a:ext cx="416052" cy="274320"/>
          </a:xfrm>
          <a:prstGeom prst="line">
            <a:avLst/>
          </a:prstGeom>
          <a:noFill/>
          <a:ln w="1270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211312" y="3182112"/>
            <a:ext cx="1691640" cy="694944"/>
          </a:xfrm>
          <a:prstGeom prst="roundRect">
            <a:avLst>
              <a:gd name="adj" fmla="val 10526"/>
            </a:avLst>
          </a:prstGeom>
          <a:solidFill>
            <a:srgbClr val="EAF1FA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84464" y="3273552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 子树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8284464" y="3547872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Posture  →  Navigate  →  Ready?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738360" y="2907792"/>
            <a:ext cx="918972" cy="274320"/>
          </a:xfrm>
          <a:prstGeom prst="line">
            <a:avLst/>
          </a:prstGeom>
          <a:noFill/>
          <a:ln w="1270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040112" y="3182112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EAF1FA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13264" y="3273552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子树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10113264" y="354787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 →  Released?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537960" y="40416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17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完整节点名：NavigateToPickStance · ExecuteGrasp · VerifyHeld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537960" y="42702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17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MoveToTransportPosture · NavigateHeld · VerifyPlacementReady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537960" y="44988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17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ExecuteRelease · VerifyReleased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3858768" y="4773168"/>
            <a:ext cx="734263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240">
            <a:solidFill>
              <a:srgbClr val="D4DD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68496" y="4809744"/>
            <a:ext cx="712317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图中读法：黄色是复合控制节点，蓝色是系统/物理叶子；算法名称没有出现在树里。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160520" y="5376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8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4160520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最终节点数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053328" y="5376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6053328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child 边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955280" y="5376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7955280" y="5760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边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9802368" y="5376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8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成功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9802368" y="5760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根节点结果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73" name="Text 71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案例一：执行过程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正常放置不是一次调用，而是 5 次物理事务 + 多次系统验证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下图把系统动作和物理动作分开：系统节点负责决策与证据，物理节点负责请求与执行。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AF1FA"/>
          </a:solidFill>
          <a:ln w="14605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673352"/>
            <a:ext cx="310896" cy="310896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4650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43584" y="1700784"/>
            <a:ext cx="1060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解析并绑定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2221992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7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ResolveAndInspect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59536" y="2706624"/>
            <a:ext cx="14447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cup-red + drop-zone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2395728"/>
            <a:ext cx="109728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1481328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AF1FA"/>
          </a:solidFill>
          <a:ln w="14605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15768" y="1673352"/>
            <a:ext cx="310896" cy="310896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174650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90672" y="1700784"/>
            <a:ext cx="1060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规划抓取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06624" y="2221992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7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PlanPick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06624" y="2706624"/>
            <a:ext cx="14447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导航计划 + PickPlan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2395728"/>
            <a:ext cx="109728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07408" y="1481328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AF1FA"/>
          </a:solidFill>
          <a:ln w="14605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2856" y="1673352"/>
            <a:ext cx="310896" cy="310896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174650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700784"/>
            <a:ext cx="1060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提前规划运输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53712" y="2221992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4B7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PlanTransfer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553712" y="2706624"/>
            <a:ext cx="14447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持物路线 + TransferPlan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2395728"/>
            <a:ext cx="109728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54496" y="1481328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7F4F1"/>
          </a:solidFill>
          <a:ln w="14605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9944" y="1673352"/>
            <a:ext cx="310896" cy="310896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174650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84848" y="1700784"/>
            <a:ext cx="1060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2221992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8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400800" y="2706624"/>
            <a:ext cx="14447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靠近 → 夹取 → VerifyHeld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91856" y="2395728"/>
            <a:ext cx="109728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01584" y="1481328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7F4F1"/>
          </a:solidFill>
          <a:ln w="14605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57032" y="1673352"/>
            <a:ext cx="310896" cy="310896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57032" y="174650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31936" y="1700784"/>
            <a:ext cx="1060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持物运输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47888" y="2221992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8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TransferHeld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247888" y="2706624"/>
            <a:ext cx="14447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运输姿态 → 移动 → Ready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838944" y="2395728"/>
            <a:ext cx="109728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948672" y="1481328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DF6E9"/>
          </a:solidFill>
          <a:ln w="14605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104120" y="1673352"/>
            <a:ext cx="310896" cy="310896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04120" y="174650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479024" y="1700784"/>
            <a:ext cx="106070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释放并确认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94976" y="2221992"/>
            <a:ext cx="144475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A8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+ VerifyGoal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10094976" y="2706624"/>
            <a:ext cx="144475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 → 到达目标区域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9808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物理事务边界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9808" y="425196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" y="42611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271016" y="4251960"/>
            <a:ext cx="15361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NavigateToPickStance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1271016" y="4498848"/>
            <a:ext cx="1536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移动到底盘抓取位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962656" y="425196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08376" y="42611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483864" y="4251960"/>
            <a:ext cx="15361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ExecuteGrasp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3483864" y="4498848"/>
            <a:ext cx="1536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夹取杯子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175504" y="425196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21224" y="42611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96712" y="4251960"/>
            <a:ext cx="15361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MoveToTransportPosture</a:t>
            </a:r>
            <a:endParaRPr lang="en-US" sz="930" dirty="0"/>
          </a:p>
        </p:txBody>
      </p:sp>
      <p:sp>
        <p:nvSpPr>
          <p:cNvPr id="59" name="Text 57"/>
          <p:cNvSpPr/>
          <p:nvPr/>
        </p:nvSpPr>
        <p:spPr>
          <a:xfrm>
            <a:off x="5696712" y="4498848"/>
            <a:ext cx="1536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切换持物姿态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388352" y="425196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34072" y="42611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09560" y="4251960"/>
            <a:ext cx="15361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NavigateHeld</a:t>
            </a:r>
            <a:endParaRPr lang="en-US" sz="930" dirty="0"/>
          </a:p>
        </p:txBody>
      </p:sp>
      <p:sp>
        <p:nvSpPr>
          <p:cNvPr id="63" name="Text 61"/>
          <p:cNvSpPr/>
          <p:nvPr/>
        </p:nvSpPr>
        <p:spPr>
          <a:xfrm>
            <a:off x="7909560" y="4498848"/>
            <a:ext cx="1536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持物沿路线移动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601200" y="425196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46920" y="42611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122408" y="4251960"/>
            <a:ext cx="153619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8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ExecuteRelease</a:t>
            </a:r>
            <a:endParaRPr lang="en-US" sz="930" dirty="0"/>
          </a:p>
        </p:txBody>
      </p:sp>
      <p:sp>
        <p:nvSpPr>
          <p:cNvPr id="67" name="Text 65"/>
          <p:cNvSpPr/>
          <p:nvPr/>
        </p:nvSpPr>
        <p:spPr>
          <a:xfrm>
            <a:off x="10122408" y="4498848"/>
            <a:ext cx="1536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释放到目标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50976" y="5093208"/>
            <a:ext cx="9948672" cy="914"/>
          </a:xfrm>
          <a:prstGeom prst="line">
            <a:avLst/>
          </a:prstGeom>
          <a:noFill/>
          <a:ln w="22860">
            <a:solidFill>
              <a:srgbClr val="187F75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676656" y="51937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world:0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417320" y="51937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空夹爪 / 杯子在起点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716768" y="51937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8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world:7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705088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杯子到位 / 夹爪已释放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965960" y="5742432"/>
            <a:ext cx="8321040" cy="438912"/>
          </a:xfrm>
          <a:prstGeom prst="roundRect">
            <a:avLst>
              <a:gd name="adj" fmla="val 16667"/>
            </a:avLst>
          </a:prstGeom>
          <a:solidFill>
            <a:srgbClr val="EDF6E9"/>
          </a:solidFill>
          <a:ln w="15240">
            <a:solidFill>
              <a:srgbClr val="5A8C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75688" y="5779008"/>
            <a:ext cx="810158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真实运行结果：16 个节点、127 个事件、5 次物理事务，最终 world:7。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76" name="Text 74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案例一：规划工件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规划结果不是散落在内存里的变量，而是可追溯的不可变工件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工件连接了“谁生成、基于哪个世界、依赖什么、谁消费、何时失效”这几件事。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工件依赖链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1847088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0EA"/>
          </a:solidFill>
          <a:ln w="1778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920240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BindingArtifact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286000"/>
            <a:ext cx="174650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ResolveAndInspect 生成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847088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7328" y="1920240"/>
            <a:ext cx="14721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PickPlan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67328" y="2286000"/>
            <a:ext cx="14721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PlanPick 生成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19088" y="1847088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1ECF8"/>
          </a:solidFill>
          <a:ln w="17780">
            <a:solidFill>
              <a:srgbClr val="74559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8816" y="1920240"/>
            <a:ext cx="16550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TransferPlan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8816" y="2286000"/>
            <a:ext cx="16550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PlanTransfer 生成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81160" y="1847088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90888" y="1920240"/>
            <a:ext cx="16550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PhysicalSkill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90888" y="2286000"/>
            <a:ext cx="16550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消费请求所需工件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97480" y="2212848"/>
            <a:ext cx="960120" cy="914"/>
          </a:xfrm>
          <a:prstGeom prst="line">
            <a:avLst/>
          </a:prstGeom>
          <a:noFill/>
          <a:ln w="21590">
            <a:solidFill>
              <a:srgbClr val="D96C4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49240" y="2212848"/>
            <a:ext cx="1069848" cy="914"/>
          </a:xfrm>
          <a:prstGeom prst="line">
            <a:avLst/>
          </a:prstGeom>
          <a:noFill/>
          <a:ln w="2159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93608" y="2212848"/>
            <a:ext cx="987552" cy="914"/>
          </a:xfrm>
          <a:prstGeom prst="line">
            <a:avLst/>
          </a:prstGeom>
          <a:noFill/>
          <a:ln w="21590">
            <a:solidFill>
              <a:srgbClr val="74559A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807208" y="195681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对象/目标绑定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04688" y="195681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依赖抓取结果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412480" y="195681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45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动作请求消费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3232" y="3035808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7552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45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每个工件携带的证据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87552" y="3831336"/>
            <a:ext cx="100584" cy="100584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3730752"/>
            <a:ext cx="4480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snapshot：例如 world:0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87552" y="4178808"/>
            <a:ext cx="100584" cy="100584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0432" y="4078224"/>
            <a:ext cx="4480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依赖实体 / 地图 / 机器人状态版本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87552" y="4526280"/>
            <a:ext cx="100584" cy="100584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4425696"/>
            <a:ext cx="4480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 graph、机器人模型、碰撞模型版本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87552" y="4873752"/>
            <a:ext cx="100584" cy="100584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4773168"/>
            <a:ext cx="4480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payload transform hash（持物计划）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87552" y="5221224"/>
            <a:ext cx="100584" cy="100584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0432" y="5120640"/>
            <a:ext cx="4480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假设、随机种子和生产者 / 消费者契约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400800" y="3035808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F1ECF8"/>
          </a:solidFill>
          <a:ln w="13970">
            <a:solidFill>
              <a:srgbClr val="74559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75120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45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为什么要不可变？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675120" y="3730752"/>
            <a:ext cx="4480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当世界改变时，不修改旧计划，而是：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20840" y="4114800"/>
            <a:ext cx="219456" cy="219456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15594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86600" y="4114800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旧工件保留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48472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可审计：当时系统看到了什么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20840" y="4553712"/>
            <a:ext cx="219456" cy="219456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45948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86600" y="4553712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新工件发布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48472" y="4553712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可恢复：重规划有明确来源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20840" y="4992624"/>
            <a:ext cx="219456" cy="219456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503377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86600" y="4992624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别名指向新版本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48472" y="4992624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可执行：消费者拿到最新合法工件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188720" y="5925312"/>
            <a:ext cx="9784080" cy="384048"/>
          </a:xfrm>
          <a:prstGeom prst="roundRect">
            <a:avLst>
              <a:gd name="adj" fmla="val 19048"/>
            </a:avLst>
          </a:prstGeom>
          <a:solidFill>
            <a:srgbClr val="FFF5D9"/>
          </a:solidFill>
          <a:ln w="15240">
            <a:solidFill>
              <a:srgbClr val="C48B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98448" y="5961888"/>
            <a:ext cx="956462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计划失效是可计算的：比较声明的依赖版本与当前快照，而不是依赖一个模糊的 invalidated 标志。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55" name="Text 53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从工件到动作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一个物理动作，必须穿过六个阶段才算完成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NavigateHeld 为例：系统不是把计划直接交给机器人，而是先检查计划和现场，再执行、观测、提交或对账。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719072" cy="1426464"/>
          </a:xfrm>
          <a:prstGeom prst="roundRect">
            <a:avLst>
              <a:gd name="adj" fmla="val 5128"/>
            </a:avLst>
          </a:prstGeom>
          <a:solidFill>
            <a:srgbClr val="EAF1FA"/>
          </a:solidFill>
          <a:ln w="14605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1682496"/>
            <a:ext cx="310896" cy="310896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7602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" y="1709928"/>
            <a:ext cx="10241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读当前快照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0664" y="2148840"/>
            <a:ext cx="14264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world:0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读取实体、机器人和地图版本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313432" y="2194560"/>
            <a:ext cx="18288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96312" y="1481328"/>
            <a:ext cx="1719072" cy="1426464"/>
          </a:xfrm>
          <a:prstGeom prst="roundRect">
            <a:avLst>
              <a:gd name="adj" fmla="val 5128"/>
            </a:avLst>
          </a:prstGeom>
          <a:solidFill>
            <a:srgbClr val="F1ECF8"/>
          </a:solidFill>
          <a:ln w="14605">
            <a:solidFill>
              <a:srgbClr val="74559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42616" y="1682496"/>
            <a:ext cx="310896" cy="310896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7602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26664" y="1709928"/>
            <a:ext cx="10241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455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检查合法性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42616" y="2148840"/>
            <a:ext cx="14264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freshness + guards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计划仍适用于现场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215384" y="2194560"/>
            <a:ext cx="18288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98264" y="1481328"/>
            <a:ext cx="1719072" cy="1426464"/>
          </a:xfrm>
          <a:prstGeom prst="roundRect">
            <a:avLst>
              <a:gd name="adj" fmla="val 5128"/>
            </a:avLst>
          </a:prstGeom>
          <a:solidFill>
            <a:srgbClr val="FFF5D9"/>
          </a:solidFill>
          <a:ln w="14605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44568" y="1682496"/>
            <a:ext cx="310896" cy="310896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17602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28616" y="1709928"/>
            <a:ext cx="10241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锁定资源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44568" y="2148840"/>
            <a:ext cx="14264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lease + checkpoint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独占底盘 / 机械臂 / 夹爪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117336" y="2194560"/>
            <a:ext cx="18288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00216" y="1481328"/>
            <a:ext cx="1719072" cy="1426464"/>
          </a:xfrm>
          <a:prstGeom prst="roundRect">
            <a:avLst>
              <a:gd name="adj" fmla="val 5128"/>
            </a:avLst>
          </a:prstGeom>
          <a:solidFill>
            <a:srgbClr val="E7F4F1"/>
          </a:solidFill>
          <a:ln w="14605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1682496"/>
            <a:ext cx="310896" cy="310896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7602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30568" y="1709928"/>
            <a:ext cx="10241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派发请求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2148840"/>
            <a:ext cx="14264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ActionRequest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PhysicalSkill 只构造请求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019288" y="2194560"/>
            <a:ext cx="18288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02168" y="1481328"/>
            <a:ext cx="1719072" cy="1426464"/>
          </a:xfrm>
          <a:prstGeom prst="roundRect">
            <a:avLst>
              <a:gd name="adj" fmla="val 5128"/>
            </a:avLst>
          </a:prstGeom>
          <a:solidFill>
            <a:srgbClr val="EDF6E9"/>
          </a:solidFill>
          <a:ln w="14605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8472" y="1682496"/>
            <a:ext cx="310896" cy="310896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17602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32520" y="1709928"/>
            <a:ext cx="10241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执行并观测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48472" y="2148840"/>
            <a:ext cx="14264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→ Observation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每条物理命令后重新采样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9921240" y="2194560"/>
            <a:ext cx="182880" cy="914"/>
          </a:xfrm>
          <a:prstGeom prst="line">
            <a:avLst/>
          </a:prstGeom>
          <a:noFill/>
          <a:ln w="1778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1481328"/>
            <a:ext cx="1719072" cy="1426464"/>
          </a:xfrm>
          <a:prstGeom prst="roundRect">
            <a:avLst>
              <a:gd name="adj" fmla="val 5128"/>
            </a:avLst>
          </a:prstGeom>
          <a:solidFill>
            <a:srgbClr val="FBEAF0"/>
          </a:solidFill>
          <a:ln w="14605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50424" y="1682496"/>
            <a:ext cx="310896" cy="310896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50424" y="17602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34472" y="1709928"/>
            <a:ext cx="102412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提交或对账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50424" y="2148840"/>
            <a:ext cx="14264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/ rollback / reconciliation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更新世界并决定后续节点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713232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NavigateHeld 为例：计划如何变成事实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685800" y="3767328"/>
            <a:ext cx="52303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60120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60120" y="4471416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4370832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TransferPlan 指向一个明确的 source snapshot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960120" y="4782312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3000" y="4681728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当前机器人、持物对象和路线依赖版本必须匹配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960120" y="5093208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43000" y="4992624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前置谓词成立，资源可独占，才能生成请求</a:t>
            </a:r>
            <a:endParaRPr lang="en-US" sz="1070" dirty="0"/>
          </a:p>
        </p:txBody>
      </p:sp>
      <p:sp>
        <p:nvSpPr>
          <p:cNvPr id="50" name="Text 48"/>
          <p:cNvSpPr/>
          <p:nvPr/>
        </p:nvSpPr>
        <p:spPr>
          <a:xfrm>
            <a:off x="960120" y="5285232"/>
            <a:ext cx="9144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动作后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828800" y="5248656"/>
            <a:ext cx="37307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写回 WorldModel；Verifier 根据新快照确认“仍然持有、已经到位、路线没有失真”。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6236208" y="3767328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E7F4F1"/>
          </a:solidFill>
          <a:ln w="1397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10528" y="4041648"/>
            <a:ext cx="2651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三个必须坚持的判断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510528" y="4507992"/>
            <a:ext cx="100584" cy="100584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93408" y="4407408"/>
            <a:ext cx="4343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返回成功，不等于任务后置条件成立</a:t>
            </a:r>
            <a:endParaRPr lang="en-US" sz="1070" dirty="0"/>
          </a:p>
        </p:txBody>
      </p:sp>
      <p:sp>
        <p:nvSpPr>
          <p:cNvPr id="56" name="Shape 54"/>
          <p:cNvSpPr/>
          <p:nvPr/>
        </p:nvSpPr>
        <p:spPr>
          <a:xfrm>
            <a:off x="6510528" y="4800600"/>
            <a:ext cx="100584" cy="100584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93408" y="4700016"/>
            <a:ext cx="4343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真实机器人不能假装回滚，只能观测后对账</a:t>
            </a:r>
            <a:endParaRPr lang="en-US" sz="1070" dirty="0"/>
          </a:p>
        </p:txBody>
      </p:sp>
      <p:sp>
        <p:nvSpPr>
          <p:cNvPr id="58" name="Shape 56"/>
          <p:cNvSpPr/>
          <p:nvPr/>
        </p:nvSpPr>
        <p:spPr>
          <a:xfrm>
            <a:off x="6510528" y="5093208"/>
            <a:ext cx="100584" cy="100584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93408" y="4992624"/>
            <a:ext cx="4343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动作后的世界版本，是下一步规划的输入</a:t>
            </a:r>
            <a:endParaRPr lang="en-US" sz="1070" dirty="0"/>
          </a:p>
        </p:txBody>
      </p:sp>
      <p:sp>
        <p:nvSpPr>
          <p:cNvPr id="60" name="Shape 58"/>
          <p:cNvSpPr/>
          <p:nvPr/>
        </p:nvSpPr>
        <p:spPr>
          <a:xfrm>
            <a:off x="6565392" y="5358384"/>
            <a:ext cx="45262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11112" y="536752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ActionRequest → Observation → Verify → Commit / Repair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960120" y="5925312"/>
            <a:ext cx="10241280" cy="365760"/>
          </a:xfrm>
          <a:prstGeom prst="roundRect">
            <a:avLst>
              <a:gd name="adj" fmla="val 20000"/>
            </a:avLst>
          </a:prstGeom>
          <a:solidFill>
            <a:srgbClr val="FFF5D9"/>
          </a:solidFill>
          <a:ln w="15240">
            <a:solidFill>
              <a:srgbClr val="C48B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69848" y="5961888"/>
            <a:ext cx="100218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核心结论：任务成功 = 动作完成 + 观测有证据 + 后置谓词成立，而不是“命令发出去了”。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65" name="Text 63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案例二：故障入口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 2：路线被可移动箱子挡住，系统如何判断“该修什么”？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系统不会让 A* 或控制器偷偷搬走障碍物；先证明阻挡者、可移动性和修复条件，再由任务树显式执行搬运。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参考场景（10 × 8 网格）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8448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8448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98448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98448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98448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36776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36776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36776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36776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36776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36776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36776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36776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75104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75104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75104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75104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75104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75104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13432" y="4453128"/>
            <a:ext cx="324612" cy="324612"/>
          </a:xfrm>
          <a:prstGeom prst="rect">
            <a:avLst/>
          </a:prstGeom>
          <a:solidFill>
            <a:srgbClr val="BFC8CC"/>
          </a:solidFill>
          <a:ln w="6350">
            <a:solidFill>
              <a:srgbClr val="BFC8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13432" y="4114800"/>
            <a:ext cx="324612" cy="324612"/>
          </a:xfrm>
          <a:prstGeom prst="rect">
            <a:avLst/>
          </a:prstGeom>
          <a:solidFill>
            <a:srgbClr val="BFC8CC"/>
          </a:solidFill>
          <a:ln w="6350">
            <a:solidFill>
              <a:srgbClr val="BFC8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13432" y="3776472"/>
            <a:ext cx="324612" cy="324612"/>
          </a:xfrm>
          <a:prstGeom prst="rect">
            <a:avLst/>
          </a:prstGeom>
          <a:solidFill>
            <a:srgbClr val="BFC8CC"/>
          </a:solidFill>
          <a:ln w="6350">
            <a:solidFill>
              <a:srgbClr val="BFC8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13432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13432" y="3099816"/>
            <a:ext cx="324612" cy="324612"/>
          </a:xfrm>
          <a:prstGeom prst="rect">
            <a:avLst/>
          </a:prstGeom>
          <a:solidFill>
            <a:srgbClr val="BFC8CC"/>
          </a:solidFill>
          <a:ln w="6350">
            <a:solidFill>
              <a:srgbClr val="BFC8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13432" y="2761488"/>
            <a:ext cx="324612" cy="324612"/>
          </a:xfrm>
          <a:prstGeom prst="rect">
            <a:avLst/>
          </a:prstGeom>
          <a:solidFill>
            <a:srgbClr val="BFC8CC"/>
          </a:solidFill>
          <a:ln w="6350">
            <a:solidFill>
              <a:srgbClr val="BFC8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13432" y="2423160"/>
            <a:ext cx="324612" cy="324612"/>
          </a:xfrm>
          <a:prstGeom prst="rect">
            <a:avLst/>
          </a:prstGeom>
          <a:solidFill>
            <a:srgbClr val="BFC8CC"/>
          </a:solidFill>
          <a:ln w="6350">
            <a:solidFill>
              <a:srgbClr val="BFC8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13432" y="2084832"/>
            <a:ext cx="324612" cy="324612"/>
          </a:xfrm>
          <a:prstGeom prst="rect">
            <a:avLst/>
          </a:prstGeom>
          <a:solidFill>
            <a:srgbClr val="BFC8CC"/>
          </a:solidFill>
          <a:ln w="6350">
            <a:solidFill>
              <a:srgbClr val="BFC8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51760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51760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51760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51760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51760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51760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51760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51760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90088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90088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90088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90088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90088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90088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90088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90088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28416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28416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28416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28416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28416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28416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28416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28416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66744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66744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66744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66744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66744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66744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66744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66744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005072" y="445312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005072" y="411480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05072" y="377647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05072" y="3438144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005072" y="3099816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005072" y="2761488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05072" y="2423160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05072" y="2084832"/>
            <a:ext cx="324612" cy="324612"/>
          </a:xfrm>
          <a:prstGeom prst="rect">
            <a:avLst/>
          </a:prstGeom>
          <a:solidFill>
            <a:srgbClr val="F7F9F7"/>
          </a:solidFill>
          <a:ln w="6350">
            <a:solidFill>
              <a:srgbClr val="DCE4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23644" y="3643884"/>
            <a:ext cx="182880" cy="182880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714500" y="367131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406140" y="2619756"/>
            <a:ext cx="201168" cy="201168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06140" y="26563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2363724" y="3250692"/>
            <a:ext cx="256032" cy="256032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363724" y="332841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 flipV="1">
            <a:off x="1805940" y="2702052"/>
            <a:ext cx="1691640" cy="1014984"/>
          </a:xfrm>
          <a:prstGeom prst="line">
            <a:avLst/>
          </a:prstGeom>
          <a:noFill/>
          <a:ln w="25400">
            <a:solidFill>
              <a:srgbClr val="D96C4C"/>
            </a:solidFill>
            <a:prstDash val="dash"/>
            <a:headEnd type="none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960120" y="4983480"/>
            <a:ext cx="3977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规划路线穿过箱子附近，连续碰撞检查拒绝该路线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960120" y="544068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FBEAF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5840" y="54498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阻挡物：movable-crate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035808" y="544068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EDF6E9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081528" y="54498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修复区：parking-zone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870448" y="164592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修复判定链</a:t>
            </a:r>
            <a:endParaRPr lang="en-US" sz="1700" dirty="0"/>
          </a:p>
        </p:txBody>
      </p:sp>
      <p:sp>
        <p:nvSpPr>
          <p:cNvPr id="101" name="Shape 99"/>
          <p:cNvSpPr/>
          <p:nvPr/>
        </p:nvSpPr>
        <p:spPr>
          <a:xfrm>
            <a:off x="5925312" y="2084832"/>
            <a:ext cx="274320" cy="274320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925312" y="2139696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28232" y="2066544"/>
            <a:ext cx="4462272" cy="512064"/>
          </a:xfrm>
          <a:prstGeom prst="roundRect">
            <a:avLst>
              <a:gd name="adj" fmla="val 14286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37960" y="2139696"/>
            <a:ext cx="4242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PlanTransfer 失败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6537960" y="2359152"/>
            <a:ext cx="42428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Diagnostic = ROUTE_BLOCKED</a:t>
            </a:r>
            <a:endParaRPr lang="en-US" sz="880" dirty="0"/>
          </a:p>
        </p:txBody>
      </p:sp>
      <p:sp>
        <p:nvSpPr>
          <p:cNvPr id="106" name="Shape 104"/>
          <p:cNvSpPr/>
          <p:nvPr/>
        </p:nvSpPr>
        <p:spPr>
          <a:xfrm>
            <a:off x="6062472" y="2359152"/>
            <a:ext cx="914" cy="384048"/>
          </a:xfrm>
          <a:prstGeom prst="line">
            <a:avLst/>
          </a:prstGeom>
          <a:noFill/>
          <a:ln w="1524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5925312" y="2743200"/>
            <a:ext cx="274320" cy="274320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925312" y="279806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6428232" y="2724912"/>
            <a:ext cx="4462272" cy="512064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37960" y="2798064"/>
            <a:ext cx="4242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 A*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6537960" y="3017520"/>
            <a:ext cx="42428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忽略该箱子后，路线恢复</a:t>
            </a:r>
            <a:endParaRPr lang="en-US" sz="880" dirty="0"/>
          </a:p>
        </p:txBody>
      </p:sp>
      <p:sp>
        <p:nvSpPr>
          <p:cNvPr id="112" name="Shape 110"/>
          <p:cNvSpPr/>
          <p:nvPr/>
        </p:nvSpPr>
        <p:spPr>
          <a:xfrm>
            <a:off x="6062472" y="3017520"/>
            <a:ext cx="914" cy="384048"/>
          </a:xfrm>
          <a:prstGeom prst="line">
            <a:avLst/>
          </a:prstGeom>
          <a:noFill/>
          <a:ln w="1524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5925312" y="3401568"/>
            <a:ext cx="274320" cy="274320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925312" y="345643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428232" y="3383280"/>
            <a:ext cx="4462272" cy="512064"/>
          </a:xfrm>
          <a:prstGeom prst="roundRect">
            <a:avLst>
              <a:gd name="adj" fmla="val 14286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537960" y="3456432"/>
            <a:ext cx="4242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检查对象属性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6537960" y="3675888"/>
            <a:ext cx="42428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movable = true；是明确见证者</a:t>
            </a:r>
            <a:endParaRPr lang="en-US" sz="880" dirty="0"/>
          </a:p>
        </p:txBody>
      </p:sp>
      <p:sp>
        <p:nvSpPr>
          <p:cNvPr id="118" name="Shape 116"/>
          <p:cNvSpPr/>
          <p:nvPr/>
        </p:nvSpPr>
        <p:spPr>
          <a:xfrm>
            <a:off x="6062472" y="3675888"/>
            <a:ext cx="914" cy="384048"/>
          </a:xfrm>
          <a:prstGeom prst="line">
            <a:avLst/>
          </a:prstGeom>
          <a:noFill/>
          <a:ln w="1524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5925312" y="4059936"/>
            <a:ext cx="274320" cy="274320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925312" y="411480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6428232" y="4041648"/>
            <a:ext cx="4462272" cy="512064"/>
          </a:xfrm>
          <a:prstGeom prst="roundRect">
            <a:avLst>
              <a:gd name="adj" fmla="val 14286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537960" y="4114800"/>
            <a:ext cx="4242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检查停车区域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6537960" y="4334256"/>
            <a:ext cx="42428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parking-zone 存在且可到达</a:t>
            </a:r>
            <a:endParaRPr lang="en-US" sz="880" dirty="0"/>
          </a:p>
        </p:txBody>
      </p:sp>
      <p:sp>
        <p:nvSpPr>
          <p:cNvPr id="124" name="Shape 122"/>
          <p:cNvSpPr/>
          <p:nvPr/>
        </p:nvSpPr>
        <p:spPr>
          <a:xfrm>
            <a:off x="6062472" y="4334256"/>
            <a:ext cx="914" cy="384048"/>
          </a:xfrm>
          <a:prstGeom prst="line">
            <a:avLst/>
          </a:prstGeom>
          <a:noFill/>
          <a:ln w="1524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5925312" y="4718304"/>
            <a:ext cx="274320" cy="274320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925312" y="4773168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6428232" y="4700016"/>
            <a:ext cx="4462272" cy="512064"/>
          </a:xfrm>
          <a:prstGeom prst="roundRect">
            <a:avLst>
              <a:gd name="adj" fmla="val 14286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537960" y="4773168"/>
            <a:ext cx="424281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提出修复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6537960" y="4992624"/>
            <a:ext cx="424281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RepairProposal(GraphDelta)</a:t>
            </a:r>
            <a:endParaRPr lang="en-US" sz="880" dirty="0"/>
          </a:p>
        </p:txBody>
      </p:sp>
      <p:sp>
        <p:nvSpPr>
          <p:cNvPr id="130" name="Shape 128"/>
          <p:cNvSpPr/>
          <p:nvPr/>
        </p:nvSpPr>
        <p:spPr>
          <a:xfrm>
            <a:off x="5897880" y="5532120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FBEAF0"/>
          </a:solidFill>
          <a:ln w="15240">
            <a:solidFill>
              <a:srgbClr val="B34A7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007608" y="5568696"/>
            <a:ext cx="50840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关键边界：修复动作本身也是任务，必须进入树、进入事件日志、进入物理事务。</a:t>
            </a:r>
            <a:endParaRPr lang="en-US" sz="1250" dirty="0"/>
          </a:p>
        </p:txBody>
      </p:sp>
      <p:sp>
        <p:nvSpPr>
          <p:cNvPr id="132" name="Shape 130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133" name="Text 131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案例二：递归修复树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修复不是旁路脚本，而是挂在失败节点上的一棵真实任务树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这让修复同样具备顺序、验证、物理事务、失败处理和递归深度限制。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原任务树的关键位置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24128" y="182880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1901952"/>
            <a:ext cx="9235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3856" y="2093976"/>
            <a:ext cx="9235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根任务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24128" y="29260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999232"/>
            <a:ext cx="11978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PlanTransfer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33856" y="3246120"/>
            <a:ext cx="1197864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原失败节点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91056" y="2304288"/>
            <a:ext cx="914" cy="621792"/>
          </a:xfrm>
          <a:prstGeom prst="line">
            <a:avLst/>
          </a:prstGeom>
          <a:noFill/>
          <a:ln w="1778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41448" y="3200400"/>
            <a:ext cx="777240" cy="914"/>
          </a:xfrm>
          <a:prstGeom prst="line">
            <a:avLst/>
          </a:prstGeom>
          <a:noFill/>
          <a:ln w="25400">
            <a:solidFill>
              <a:srgbClr val="B34A7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23744" y="2889504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FBEAF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2898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27248" y="2788920"/>
            <a:ext cx="1993392" cy="822960"/>
          </a:xfrm>
          <a:prstGeom prst="roundRect">
            <a:avLst>
              <a:gd name="adj" fmla="val 8889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36976" y="2862072"/>
            <a:ext cx="17739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RouteBlockedRepair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236976" y="3246120"/>
            <a:ext cx="17739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= repair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51376" y="3611880"/>
            <a:ext cx="914" cy="365760"/>
          </a:xfrm>
          <a:prstGeom prst="line">
            <a:avLst/>
          </a:prstGeom>
          <a:noFill/>
          <a:ln w="19050">
            <a:solidFill>
              <a:srgbClr val="B34A7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04672" y="4160520"/>
            <a:ext cx="4434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只允许一个修复入口，且修复子树必须从失败节点可达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956048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B34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992624"/>
            <a:ext cx="4078224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内核先校验 GraphDelta：repair 边、入口节点、作用域、无环、可达。通过后才挂载。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0" y="1353312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修复子树展开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635240" y="1737360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BEAF0"/>
          </a:solidFill>
          <a:ln w="17780">
            <a:solidFill>
              <a:srgbClr val="B3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1810512"/>
            <a:ext cx="18836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RouteBlockedRepair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44968" y="2029968"/>
            <a:ext cx="188366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/ sequence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06440" y="2697480"/>
            <a:ext cx="1783080" cy="530352"/>
          </a:xfrm>
          <a:prstGeom prst="roundRect">
            <a:avLst>
              <a:gd name="adj" fmla="val 13793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16168" y="2770632"/>
            <a:ext cx="15636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16168" y="2990088"/>
            <a:ext cx="15636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递归搬走阻挡物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46920" y="2697480"/>
            <a:ext cx="1783080" cy="530352"/>
          </a:xfrm>
          <a:prstGeom prst="roundRect">
            <a:avLst>
              <a:gd name="adj" fmla="val 13793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56648" y="2770632"/>
            <a:ext cx="15636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PlanPick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56648" y="2990088"/>
            <a:ext cx="15636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刷新依赖计划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 flipH="1">
            <a:off x="6702552" y="2267712"/>
            <a:ext cx="1984248" cy="429768"/>
          </a:xfrm>
          <a:prstGeom prst="line">
            <a:avLst/>
          </a:prstGeom>
          <a:noFill/>
          <a:ln w="17780">
            <a:solidFill>
              <a:srgbClr val="B34A7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86800" y="2267712"/>
            <a:ext cx="1856232" cy="429768"/>
          </a:xfrm>
          <a:prstGeom prst="line">
            <a:avLst/>
          </a:prstGeom>
          <a:noFill/>
          <a:ln w="17780">
            <a:solidFill>
              <a:srgbClr val="B34A7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5989320" y="3227832"/>
            <a:ext cx="713232" cy="310896"/>
          </a:xfrm>
          <a:prstGeom prst="line">
            <a:avLst/>
          </a:prstGeom>
          <a:noFill/>
          <a:ln w="1270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623560" y="3538728"/>
            <a:ext cx="7315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0136" y="36941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46520" y="3794760"/>
            <a:ext cx="100584" cy="914"/>
          </a:xfrm>
          <a:prstGeom prst="line">
            <a:avLst/>
          </a:prstGeom>
          <a:noFill/>
          <a:ln w="1270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547104" y="3538728"/>
            <a:ext cx="7315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6941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抓取规划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370064" y="3794760"/>
            <a:ext cx="100584" cy="914"/>
          </a:xfrm>
          <a:prstGeom prst="line">
            <a:avLst/>
          </a:prstGeom>
          <a:noFill/>
          <a:ln w="1270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470648" y="3538728"/>
            <a:ext cx="7315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07224" y="36941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运输规划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8293608" y="3794760"/>
            <a:ext cx="100584" cy="914"/>
          </a:xfrm>
          <a:prstGeom prst="line">
            <a:avLst/>
          </a:prstGeom>
          <a:noFill/>
          <a:ln w="1270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394192" y="3538728"/>
            <a:ext cx="7315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0768" y="36941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217152" y="3794760"/>
            <a:ext cx="100584" cy="914"/>
          </a:xfrm>
          <a:prstGeom prst="line">
            <a:avLst/>
          </a:prstGeom>
          <a:noFill/>
          <a:ln w="1270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317736" y="3538728"/>
            <a:ext cx="7315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54312" y="36941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持物运输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10140696" y="3794760"/>
            <a:ext cx="100584" cy="914"/>
          </a:xfrm>
          <a:prstGeom prst="line">
            <a:avLst/>
          </a:prstGeom>
          <a:noFill/>
          <a:ln w="1270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241280" y="3538728"/>
            <a:ext cx="7315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77856" y="36941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577840" y="422452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完整节点名：ResolveAndInspect → PlanPick → PlanTransfer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577840" y="446227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17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→ TransferHeld → Release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60720" y="4718304"/>
            <a:ext cx="5486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Place(阻挡物, parking-zone) 自己也会展开为解析、规划、抓取、持物运输、释放和验证。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89320" y="52852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989320" y="5669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最终节点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790688" y="52852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7790688" y="5669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边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592056" y="52852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600" dirty="0"/>
          </a:p>
        </p:txBody>
      </p:sp>
      <p:sp>
        <p:nvSpPr>
          <p:cNvPr id="62" name="Text 60"/>
          <p:cNvSpPr/>
          <p:nvPr/>
        </p:nvSpPr>
        <p:spPr>
          <a:xfrm>
            <a:off x="9592056" y="5669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物理事务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972800" y="52852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275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10972800" y="5669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66" name="Text 64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案例二：详细执行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从路线失败到恢复成功，系统到底做了哪些事？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把故障处理拆成可讲解的 8 个动作，听众就能看到“递归”不是一句口号。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87552" y="2130552"/>
            <a:ext cx="10030968" cy="914"/>
          </a:xfrm>
          <a:prstGeom prst="line">
            <a:avLst/>
          </a:prstGeom>
          <a:noFill/>
          <a:ln w="2540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59536" y="1847088"/>
            <a:ext cx="402336" cy="402336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3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PlanTransfer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5836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world:0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持物路线被箱子阻挡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276856" y="1847088"/>
            <a:ext cx="402336" cy="402336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7685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7568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3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07568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ROUTE_BLOCKED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1109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记录失败原因与见证者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694176" y="1847088"/>
            <a:ext cx="402336" cy="402336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300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3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49300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内核挂载 RouteBlockedRepair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111496" y="1847088"/>
            <a:ext cx="402336" cy="402336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8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 Place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91032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箱子 → 停放区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4573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修复树执行搬箱任务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528816" y="1847088"/>
            <a:ext cx="402336" cy="402336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A8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32764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world:7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6305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观察到箱子已移走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946136" y="1847088"/>
            <a:ext cx="402336" cy="402336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4613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4496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4B7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Replan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74496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8037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刷新 PickPlan / TransferPlan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363456" y="1847088"/>
            <a:ext cx="402336" cy="402336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6345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6228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7F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916228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原节点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9769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回到原 PlanTransfer/主任务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10780776" y="1847088"/>
            <a:ext cx="402336" cy="402336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80776" y="1952244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579608" y="2487168"/>
            <a:ext cx="80467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A8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10579608" y="2871216"/>
            <a:ext cx="8046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world:14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415016" y="3200400"/>
            <a:ext cx="1143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杯子到位，任务成功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713232" y="3977640"/>
            <a:ext cx="5303520" cy="1627632"/>
          </a:xfrm>
          <a:prstGeom prst="roundRect">
            <a:avLst>
              <a:gd name="adj" fmla="val 4494"/>
            </a:avLst>
          </a:prstGeom>
          <a:solidFill>
            <a:srgbClr val="FBEAF0"/>
          </a:solidFill>
          <a:ln w="1524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87552" y="4270248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没有隐藏副作用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987552" y="4745736"/>
            <a:ext cx="100584" cy="100584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0432" y="4645152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A* 只证明路线，不负责搬障碍物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987552" y="5056632"/>
            <a:ext cx="100584" cy="100584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70432" y="4956048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搬箱子是 Place 任务，会进入物理事务</a:t>
            </a:r>
            <a:endParaRPr lang="en-US" sz="1080" dirty="0"/>
          </a:p>
        </p:txBody>
      </p:sp>
      <p:sp>
        <p:nvSpPr>
          <p:cNvPr id="53" name="Shape 51"/>
          <p:cNvSpPr/>
          <p:nvPr/>
        </p:nvSpPr>
        <p:spPr>
          <a:xfrm>
            <a:off x="987552" y="5367528"/>
            <a:ext cx="100584" cy="100584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70432" y="5266944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失败和修复都在同一棵可审计树里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6263640" y="397764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7F4F1"/>
          </a:solidFill>
          <a:ln w="1524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537960" y="4270248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重试的前提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6537960" y="4745736"/>
            <a:ext cx="100584" cy="100584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20840" y="4645152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新世界快照已被观测并进入 World Model</a:t>
            </a:r>
            <a:endParaRPr lang="en-US" sz="1080" dirty="0"/>
          </a:p>
        </p:txBody>
      </p:sp>
      <p:sp>
        <p:nvSpPr>
          <p:cNvPr id="59" name="Shape 57"/>
          <p:cNvSpPr/>
          <p:nvPr/>
        </p:nvSpPr>
        <p:spPr>
          <a:xfrm>
            <a:off x="6537960" y="5056632"/>
            <a:ext cx="100584" cy="100584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4956048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旧路线 / 计划按依赖关系重新检查新鲜度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6537960" y="5367528"/>
            <a:ext cx="100584" cy="100584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20840" y="5266944"/>
            <a:ext cx="4343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只消费新的、契约匹配的工件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1188720" y="5925312"/>
            <a:ext cx="9784080" cy="384048"/>
          </a:xfrm>
          <a:prstGeom prst="roundRect">
            <a:avLst>
              <a:gd name="adj" fmla="val 19048"/>
            </a:avLst>
          </a:prstGeom>
          <a:solidFill>
            <a:srgbClr val="FFF5D9"/>
          </a:solidFill>
          <a:ln w="15240">
            <a:solidFill>
              <a:srgbClr val="C48B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98448" y="5961888"/>
            <a:ext cx="956462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最终结果：PlanTransfer 从第一次失败变成第二次成功；根任务仍然是同一个目标。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66" name="Text 64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案例三：连续会话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连续操作：每条指令一棵新树，但现实世界不重置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这是产品化体验的核心：用户可以连续下达任务，系统保持现场状态，同时保证每棵树独立可审计。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9728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4800600"/>
            <a:ext cx="1874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同一条世界时间线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97480" y="4946904"/>
            <a:ext cx="8138160" cy="914"/>
          </a:xfrm>
          <a:prstGeom prst="line">
            <a:avLst/>
          </a:prstGeom>
          <a:noFill/>
          <a:ln w="25400">
            <a:solidFill>
              <a:srgbClr val="187F7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816352" y="475488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E7F4F1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476402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world:0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475488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E7F4F1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47640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world:7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12680" y="475488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DF6E9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47640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world:14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61488" y="52303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初始场景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5230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箱子进入停放区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92640" y="52303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杯子进入投放区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18288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69848" y="1901952"/>
            <a:ext cx="35753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0001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9848" y="2286000"/>
            <a:ext cx="35753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Place(movable-crate → parking-zone)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1234440" y="3054096"/>
            <a:ext cx="3246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48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program/task-0001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8B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43000" y="3767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338328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194560" y="3767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物理事务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46120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8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0→7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4612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世界版本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52928" y="4416552"/>
            <a:ext cx="914" cy="338328"/>
          </a:xfrm>
          <a:prstGeom prst="line">
            <a:avLst/>
          </a:prstGeom>
          <a:noFill/>
          <a:ln w="19050">
            <a:solidFill>
              <a:srgbClr val="C48B2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29400" y="18288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39128" y="1901952"/>
            <a:ext cx="35753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0002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39128" y="2286000"/>
            <a:ext cx="357530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Place(cup-red → drop-zone)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903720" y="3054096"/>
            <a:ext cx="3246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B7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program/task-0002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2280" y="338328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7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812280" y="3767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63840" y="338328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863840" y="37673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物理事务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15400" y="33832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8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7→14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915400" y="3767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世界版本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914" cy="338328"/>
          </a:xfrm>
          <a:prstGeom prst="line">
            <a:avLst/>
          </a:prstGeom>
          <a:noFill/>
          <a:ln w="19050">
            <a:solidFill>
              <a:srgbClr val="4B78A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97280" y="571500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5D9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57241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新树：避免不同根目标的节点混合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571500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E7F4F1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57241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共享世界：保留机器人和现场连续性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安全与治理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每条物理动作都要穿过一组明确的闸门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安全不依赖模型“自觉”，而是由工件契约、快照、资源、事务和观测共同约束。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124712" y="1691640"/>
            <a:ext cx="384048" cy="384048"/>
          </a:xfrm>
          <a:prstGeom prst="ellipse">
            <a:avLst/>
          </a:prstGeom>
          <a:solidFill>
            <a:srgbClr val="74559A"/>
          </a:solidFill>
          <a:ln w="12700">
            <a:solidFill>
              <a:srgbClr val="7455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922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883664"/>
            <a:ext cx="795528" cy="914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331720"/>
            <a:ext cx="1298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7780">
            <a:solidFill>
              <a:srgbClr val="74559A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2404872"/>
            <a:ext cx="10789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工件新鲜度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743200"/>
            <a:ext cx="1078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计划是否仍适用于当前世界？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743200" y="1691640"/>
            <a:ext cx="384048" cy="384048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7922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27248" y="1883664"/>
            <a:ext cx="795528" cy="914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04288" y="2331720"/>
            <a:ext cx="1298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7780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14016" y="2404872"/>
            <a:ext cx="10789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快照谓词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14016" y="2743200"/>
            <a:ext cx="1078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动作前置条件是否成立？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361688" y="1691640"/>
            <a:ext cx="384048" cy="384048"/>
          </a:xfrm>
          <a:prstGeom prst="ellipse">
            <a:avLst/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17922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45736" y="1883664"/>
            <a:ext cx="795528" cy="914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22776" y="2331720"/>
            <a:ext cx="1298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7780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32504" y="2404872"/>
            <a:ext cx="10789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资源租约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32504" y="2743200"/>
            <a:ext cx="1078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底盘、机械臂、夹爪是否可独占？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80176" y="1691640"/>
            <a:ext cx="384048" cy="384048"/>
          </a:xfrm>
          <a:prstGeom prst="ellipse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7922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64224" y="1883664"/>
            <a:ext cx="795528" cy="914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41264" y="2331720"/>
            <a:ext cx="1298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778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50992" y="2404872"/>
            <a:ext cx="10789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50992" y="2743200"/>
            <a:ext cx="1078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模拟器可回滚；真实后端准备对账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598664" y="1691640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8664" y="17922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82712" y="1883664"/>
            <a:ext cx="795528" cy="914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59752" y="2331720"/>
            <a:ext cx="1298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7780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69480" y="2404872"/>
            <a:ext cx="10789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受限派发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2743200"/>
            <a:ext cx="1078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普通动作与 system_only 分流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9217152" y="1691640"/>
            <a:ext cx="384048" cy="384048"/>
          </a:xfrm>
          <a:prstGeom prst="ellipse">
            <a:avLst/>
          </a:prstGeom>
          <a:solidFill>
            <a:srgbClr val="5A8C55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17922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601200" y="1883664"/>
            <a:ext cx="795528" cy="914"/>
          </a:xfrm>
          <a:prstGeom prst="line">
            <a:avLst/>
          </a:prstGeom>
          <a:noFill/>
          <a:ln w="17780">
            <a:solidFill>
              <a:srgbClr val="D4DDD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78240" y="2331720"/>
            <a:ext cx="1298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7780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887968" y="2404872"/>
            <a:ext cx="10789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动作后观测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887968" y="2743200"/>
            <a:ext cx="1078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每条物理命令重新采样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10835640" y="1691640"/>
            <a:ext cx="384048" cy="384048"/>
          </a:xfrm>
          <a:prstGeom prst="ellipse">
            <a:avLst/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35640" y="179222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396728" y="2331720"/>
            <a:ext cx="12984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7780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506456" y="2404872"/>
            <a:ext cx="10789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/ 对账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506456" y="2743200"/>
            <a:ext cx="107899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成功提交；失败回滚或 reconciliation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713232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物理边界的所有权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841248" y="44805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 w="17780">
            <a:solidFill>
              <a:srgbClr val="4B78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0976" y="4553712"/>
            <a:ext cx="174650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PhysicalSkill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50976" y="4919472"/>
            <a:ext cx="174650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只构造 ActionRequest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56432" y="448056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E7F4F1"/>
          </a:solidFill>
          <a:ln w="17780">
            <a:solidFill>
              <a:srgbClr val="187F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0" y="4553712"/>
            <a:ext cx="19293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Gateway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566160" y="4919472"/>
            <a:ext cx="19293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PhysicalGateway：只允许声明动作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6291072" y="44805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5D9"/>
          </a:solidFill>
          <a:ln w="17780">
            <a:solidFill>
              <a:srgbClr val="C48B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4553712"/>
            <a:ext cx="16093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HarnessRuntime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400800" y="4919472"/>
            <a:ext cx="16093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唯一调用后端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805672" y="448056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15400" y="4553712"/>
            <a:ext cx="14721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RobotBackend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915400" y="4919472"/>
            <a:ext cx="14721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+ 观测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972800" y="4480560"/>
            <a:ext cx="777240" cy="731520"/>
          </a:xfrm>
          <a:prstGeom prst="roundRect">
            <a:avLst>
              <a:gd name="adj" fmla="val 10000"/>
            </a:avLst>
          </a:prstGeom>
          <a:solidFill>
            <a:srgbClr val="EDF6E9"/>
          </a:solidFill>
          <a:ln w="17780">
            <a:solidFill>
              <a:srgbClr val="5A8C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082528" y="4553712"/>
            <a:ext cx="55778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Model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082528" y="4919472"/>
            <a:ext cx="5577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证据回流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807208" y="4846320"/>
            <a:ext cx="649224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605272" y="4846320"/>
            <a:ext cx="68580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119872" y="4846320"/>
            <a:ext cx="685800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0497312" y="4846320"/>
            <a:ext cx="475488" cy="914"/>
          </a:xfrm>
          <a:prstGeom prst="line">
            <a:avLst/>
          </a:prstGeom>
          <a:noFill/>
          <a:ln w="19050">
            <a:solidFill>
              <a:srgbClr val="61727A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60120" y="5715000"/>
            <a:ext cx="102412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9848" y="5751576"/>
            <a:ext cx="10021824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路线安全还要求连续验证：A* 结果、实际起点/终点、结构化障碍物、机器人 footprint 和执行时重验证使用同一套策略。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70" name="Text 68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价值与优势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这套架构带来的不是“多几个模块”，而是四种可量化能力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用管理层语言讲价值，用 CTO 语言讲机制；下面每项都能在源码和案例中找到对应证据。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FBEAF0"/>
          </a:solidFill>
          <a:ln w="14605">
            <a:solidFill>
              <a:srgbClr val="B34A70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27632"/>
            <a:ext cx="9601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失败可收敛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322576"/>
            <a:ext cx="2880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路线阻塞会进入 repair 子树，修复后重试原目标，而不是靠模型随机重试。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2880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9806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34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案例二：34 节点 / 1 repair 边 / 成功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89120" y="1444752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EAF1FA"/>
          </a:solidFill>
          <a:ln w="14605">
            <a:solidFill>
              <a:srgbClr val="4B78A8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627632"/>
            <a:ext cx="9601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每一步有证据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322576"/>
            <a:ext cx="2880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树、事件、工件、快照和事务记录让动作前因后果可复盘。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2880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79806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案例一：127 个事件可追踪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138160" y="1444752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E7F4F1"/>
          </a:solidFill>
          <a:ln w="14605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1627632"/>
            <a:ext cx="9601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替换局部实现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2322576"/>
            <a:ext cx="2880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新增任务加 decomposer；新增机器人实现 Backend；A* / IK / RRT 可独立演进。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21040" y="2788920"/>
            <a:ext cx="2880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79806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任务语义与算法解耦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0080" y="3438144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FFF5D9"/>
          </a:solidFill>
          <a:ln w="14605">
            <a:solidFill>
              <a:srgbClr val="C48B24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3621024"/>
            <a:ext cx="9601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931920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物理动作有边界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2960" y="4315968"/>
            <a:ext cx="2880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Runtime 能调用后端，工件、guards、租约和对账共同限制副作用。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782312"/>
            <a:ext cx="2880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7914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动作后必观测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389120" y="3438144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EDF6E9"/>
          </a:solidFill>
          <a:ln w="14605">
            <a:solidFill>
              <a:srgbClr val="5A8C5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0" y="3621024"/>
            <a:ext cx="9601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3931920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现场不重置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72000" y="4315968"/>
            <a:ext cx="2880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每个任务新树，World/Runtime/Backend 跨任务复用，适合多步协作。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4782312"/>
            <a:ext cx="2880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5A8C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7914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5A8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task-0001 → task-0002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138160" y="3438144"/>
            <a:ext cx="3337560" cy="1627632"/>
          </a:xfrm>
          <a:prstGeom prst="roundRect">
            <a:avLst>
              <a:gd name="adj" fmla="val 4494"/>
            </a:avLst>
          </a:prstGeom>
          <a:solidFill>
            <a:srgbClr val="FFF0EA"/>
          </a:solidFill>
          <a:ln w="14605">
            <a:solidFill>
              <a:srgbClr val="D96C4C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21040" y="3621024"/>
            <a:ext cx="9601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工程效率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1040" y="3931920"/>
            <a:ext cx="2880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问题定位更快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321040" y="4315968"/>
            <a:ext cx="2880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故障落在具体节点、具体工件和具体世界版本上，减少“整条链路猜测”。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21040" y="4782312"/>
            <a:ext cx="28803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96C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47914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96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局部重规划而非全量重做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868680" y="5779008"/>
            <a:ext cx="10515600" cy="438912"/>
          </a:xfrm>
          <a:prstGeom prst="roundRect">
            <a:avLst>
              <a:gd name="adj" fmla="val 16667"/>
            </a:avLst>
          </a:prstGeom>
          <a:solidFill>
            <a:srgbClr val="18303A"/>
          </a:solidFill>
          <a:ln w="15240">
            <a:solidFill>
              <a:srgbClr val="1830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" y="5815584"/>
            <a:ext cx="1029614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管理层可见结果：风险可控、过程可解释、故障可恢复；技术团队可见结果：边界清晰、替换点明确、测试可落地。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2286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87F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生产化边界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064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参考实现已经把替换点留出来，下一步是把边界变成生产能力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1064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当前仓库是 reference modular monolith；它验证的是架构契约，不等于所有生产基础设施已经完成。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D4DDDF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当前参考实现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" y="2313432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212848"/>
            <a:ext cx="4297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TaskTreeStore：内存权威状态，JSON 用于检查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2843784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743200"/>
            <a:ext cx="4297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确定性平面双连杆模拟器 + 保守碰撞模型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374136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273552"/>
            <a:ext cx="4297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本地单操作员 Web 控制台，默认 loopback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3904488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03904"/>
            <a:ext cx="4297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完整测试覆盖内核、工件、物理边界和修复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4434840"/>
            <a:ext cx="100584" cy="100584"/>
          </a:xfrm>
          <a:prstGeom prst="ellipse">
            <a:avLst/>
          </a:prstGeom>
          <a:solidFill>
            <a:srgbClr val="4B78A8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334256"/>
            <a:ext cx="4297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GeminiER2 适配层复用 Harness 的世界与工具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1560" y="534924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EAF1FA"/>
          </a:solidFill>
          <a:ln w="12700">
            <a:solidFill>
              <a:srgbClr val="4B7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35838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架构验证重点：契约、所有权、恢复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27648" y="141732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E7F4F1"/>
          </a:solidFill>
          <a:ln w="13970">
            <a:solidFill>
              <a:srgbClr val="187F75"/>
            </a:solidFill>
            <a:prstDash val="solid"/>
          </a:ln>
          <a:effectLst>
            <a:outerShdw sx="100000" sy="100000" kx="0" ky="0" algn="bl" rotWithShape="0" blurRad="12700" dist="50800" dir="2700000">
              <a:srgbClr val="77858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01968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生产化优先级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629400" y="2121408"/>
            <a:ext cx="438912" cy="274320"/>
          </a:xfrm>
          <a:prstGeom prst="roundRect">
            <a:avLst>
              <a:gd name="adj" fmla="val 26667"/>
            </a:avLst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1305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9480" y="2121408"/>
            <a:ext cx="1325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 Store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41080" y="2121408"/>
            <a:ext cx="248716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SQLite/PostgreSQL/event log；树、栈、事件、工件同一事务边界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2743200"/>
            <a:ext cx="438912" cy="274320"/>
          </a:xfrm>
          <a:prstGeom prst="roundRect">
            <a:avLst>
              <a:gd name="adj" fmla="val 26667"/>
            </a:avLst>
          </a:prstGeom>
          <a:solidFill>
            <a:srgbClr val="B34A70"/>
          </a:solidFill>
          <a:ln w="12700">
            <a:solidFill>
              <a:srgbClr val="B34A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7523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69480" y="2743200"/>
            <a:ext cx="1325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真实机器人适配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41080" y="2743200"/>
            <a:ext cx="248716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ActionRequest、Observation、guard 和 reconciliation 契约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9400" y="3364992"/>
            <a:ext cx="438912" cy="274320"/>
          </a:xfrm>
          <a:prstGeom prst="roundRect">
            <a:avLst>
              <a:gd name="adj" fmla="val 26667"/>
            </a:avLst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3741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69480" y="3364992"/>
            <a:ext cx="1325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安全与运维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4108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认证、多操作员、指标、分布式追踪、告警和回放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3986784"/>
            <a:ext cx="438912" cy="274320"/>
          </a:xfrm>
          <a:prstGeom prst="roundRect">
            <a:avLst>
              <a:gd name="adj" fmla="val 26667"/>
            </a:avLst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9959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9480" y="3986784"/>
            <a:ext cx="1325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评测与策略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41080" y="3986784"/>
            <a:ext cx="248716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固定条件评测、故障注入、路线策略版本治理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29400" y="4608576"/>
            <a:ext cx="438912" cy="274320"/>
          </a:xfrm>
          <a:prstGeom prst="roundRect">
            <a:avLst>
              <a:gd name="adj" fmla="val 26667"/>
            </a:avLst>
          </a:prstGeom>
          <a:solidFill>
            <a:srgbClr val="C48B24"/>
          </a:solidFill>
          <a:ln w="12700">
            <a:solidFill>
              <a:srgbClr val="C48B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617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4608576"/>
            <a:ext cx="1325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830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规模化编排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641080" y="4608576"/>
            <a:ext cx="248716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172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任务模板、能力注册、资源池和多机器人协调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5840" y="6053328"/>
            <a:ext cx="10149840" cy="347472"/>
          </a:xfrm>
          <a:prstGeom prst="roundRect">
            <a:avLst>
              <a:gd name="adj" fmla="val 21053"/>
            </a:avLst>
          </a:prstGeom>
          <a:solidFill>
            <a:srgbClr val="FFF5D9"/>
          </a:solidFill>
          <a:ln w="15240">
            <a:solidFill>
              <a:srgbClr val="C48B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5568" y="6089904"/>
            <a:ext cx="99303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B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决策点：先选一个可观测、可回放、可注入故障的机器人任务作为生产试点。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3A"/>
          </a:solidFill>
          <a:ln w="12700">
            <a:solidFill>
              <a:srgbClr val="183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7F75"/>
          </a:solidFill>
          <a:ln w="12700">
            <a:solidFill>
              <a:srgbClr val="187F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8AD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核心判断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8046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进入真实世界，关键不是让模型更“会说”，而是让执行过程更“可控”。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3D4A36"/>
          </a:solidFill>
          <a:ln w="15240">
            <a:solidFill>
              <a:srgbClr val="C48B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035808"/>
            <a:ext cx="2788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TaskTreeKernel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执行控制平面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776472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4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统一解释任务树、状态和恢复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7889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274C4A"/>
          </a:solidFill>
          <a:ln w="15240">
            <a:solidFill>
              <a:srgbClr val="187F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035808"/>
            <a:ext cx="2788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物理世界适配层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776472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4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承载感知、工具、事务和机器人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01000" y="27889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4E3240"/>
          </a:solidFill>
          <a:ln w="15240">
            <a:solidFill>
              <a:srgbClr val="B34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3035808"/>
            <a:ext cx="2788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3429000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一等公民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3776472"/>
            <a:ext cx="2788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4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把失败变成可递归的工作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892040"/>
            <a:ext cx="10149840" cy="914"/>
          </a:xfrm>
          <a:prstGeom prst="line">
            <a:avLst/>
          </a:prstGeom>
          <a:noFill/>
          <a:ln w="15240">
            <a:solidFill>
              <a:srgbClr val="567177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77240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AD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下一步建议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5166360"/>
            <a:ext cx="8869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确定试点任务  →  接入持久化 Store  →  接入真实机器人  →  建立故障注入与回放评测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6144768"/>
            <a:ext cx="5303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C9A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  ·  2026-08-30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07040" y="5961888"/>
            <a:ext cx="822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dirty="0">
                <a:solidFill>
                  <a:srgbClr val="8AD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2920" y="6428232"/>
            <a:ext cx="11155680" cy="914"/>
          </a:xfrm>
          <a:prstGeom prst="line">
            <a:avLst/>
          </a:prstGeom>
          <a:noFill/>
          <a:ln w="8890">
            <a:solidFill>
              <a:srgbClr val="D4DDDF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30352" y="64830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Recursive Tree Agent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84080" y="64830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8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2026-08-30  ·  21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Task Recursive Tree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Recursive Tree Agent 架构讲解</dc:title>
  <dc:subject>Task Recursive Tree Agent architecture briefing</dc:subject>
  <dc:creator>Task Recursive Tree</dc:creator>
  <cp:lastModifiedBy>Task Recursive Tree</cp:lastModifiedBy>
  <cp:revision>1</cp:revision>
  <dcterms:created xsi:type="dcterms:W3CDTF">2026-08-30T12:23:23Z</dcterms:created>
  <dcterms:modified xsi:type="dcterms:W3CDTF">2026-08-30T12:23:23Z</dcterms:modified>
</cp:coreProperties>
</file>